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936" r:id="rId2"/>
    <p:sldId id="919" r:id="rId3"/>
    <p:sldId id="934" r:id="rId4"/>
    <p:sldId id="937" r:id="rId5"/>
    <p:sldId id="938" r:id="rId6"/>
    <p:sldId id="939" r:id="rId7"/>
    <p:sldId id="940" r:id="rId8"/>
    <p:sldId id="941" r:id="rId9"/>
    <p:sldId id="942" r:id="rId10"/>
    <p:sldId id="943" r:id="rId11"/>
    <p:sldId id="944" r:id="rId12"/>
    <p:sldId id="945" r:id="rId13"/>
    <p:sldId id="946" r:id="rId14"/>
    <p:sldId id="947" r:id="rId15"/>
    <p:sldId id="948" r:id="rId16"/>
    <p:sldId id="925" r:id="rId17"/>
    <p:sldId id="935" r:id="rId18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DE5C9-E87C-42EC-9C19-BF2749389CD2}" v="41" dt="2026-03-15T18:00:54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42" autoAdjust="0"/>
  </p:normalViewPr>
  <p:slideViewPr>
    <p:cSldViewPr snapToGrid="0">
      <p:cViewPr varScale="1">
        <p:scale>
          <a:sx n="64" d="100"/>
          <a:sy n="64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1T05:00:33.13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0,'0'5,"0"6,0 5,0 6,0 2,0 3,0 2,0-1,0 0,0 1,0-1,0 0,0-1,0 1,0-1,0 0,0 0,0 1,0-1,5-4,1-2,0 0,-2 2,0 1,-2 1,-1 1,-1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1T05:00:52.24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1,'0'4,"0"7,0 6,0 4,0 4,0 2,0 1,0 5,0 2,0-1,0 4,0-1,0 3,0 0,0-3,0-3,0-3,0-1,5-7,1-11,0-8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1T05:00:57.408"/>
    </inkml:context>
    <inkml:brush xml:id="br0">
      <inkml:brushProperty name="width" value="0.2" units="cm"/>
      <inkml:brushProperty name="height" value="1.2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1T05:01:05.796"/>
    </inkml:context>
    <inkml:brush xml:id="br0">
      <inkml:brushProperty name="width" value="0.2" units="cm"/>
      <inkml:brushProperty name="height" value="1.2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1,'0'4,"0"7,0 6,0 5,0 2,0 3,0 1,0 1,0-1,0 1,0-1,0 0,0-1,0 0,0 1,0-1,0 0,0 1,0-1,0 0,0 1,0-1,0 0,0 0,0 1,0-1,0 0,0-4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1:55.882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DFF7B-7876-476D-9817-44EEECDE7C7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DFC35-57B6-4606-A2D9-F0222A5C8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979A335-BFB9-AAF4-8BAA-F6AA4FD1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FF23B-171D-471C-BD36-2D0F3A67807C}" type="datetime1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24E6499-99E1-5E0A-F4D8-0B5071E4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675483-2FD4-D24E-DADC-E63111D5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453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242E6-CFCB-473D-8DE4-DBEBF5C1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C64AC5-3894-4FBB-8975-13EB1DB8DC29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B7CD5-2550-DB8D-26F8-027AF7E19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6C51F-13A2-B94E-0452-050561AA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9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55CF0-ABD6-66F1-67F5-836326AB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C1E13E-385D-4576-A100-69A004E17DA6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945ED-DEA5-AD26-0679-3CCE6058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C1ED-31B6-07E2-4040-23F46BA6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02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FF1E6-C3FD-8DC1-9688-6478CAF8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AA223D-2542-4258-9E8D-7AA5AD35F6CD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A91A9-C2A8-B8FC-7EDD-9663FD0B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E2D58-A2BD-6749-279B-7D28B387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98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1B3C8-B474-4F6E-6BB3-FA075D69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E55CD5-F841-4E64-889C-5E5E14345BD0}" type="datetime1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9A921A-9EC6-0DF2-79F5-6F853204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36F6D-C327-9C66-1C8D-D7352B06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12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F204F-0527-F359-E020-C43A7A1E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EDD59E-1B5D-4786-A960-698D3B3A987B}" type="datetime1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F5C84-7D85-6B3B-4A48-36E85A4C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28A42-FE07-DE2E-EBAE-42B1BB1F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01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F3302-8D61-C056-96BB-694507EF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72AF16-0324-4CB5-BF94-93F7E9EFF89A}" type="datetime1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43D02-CCC0-D13A-998C-CB44054C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098C0-B884-165A-2694-973A56D8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1A566-EA49-2977-8317-6FB23668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57C84E-F0B9-4ADC-986F-1DB115FD93B9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BDFB9-862F-16D1-7A43-6B67A6BA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EEF3A-C8B2-956C-D15D-86434F20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6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BCC3F-66AE-D685-917C-BCE23EBF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FE89-EA5A-4C24-95E7-6963E505006B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C573-3CAA-6017-0BFA-B1CAB904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16E67-65BF-8531-9B7F-D0AB1116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15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87074-245E-87F5-DFC8-F77FA4B66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7C52A0-4C51-420B-BF57-FAF0CD0E6621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67015-6888-E53F-F21D-DC01C60B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566B7-60AE-81B8-5DE4-D6BFD289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34291"/>
            <a:ext cx="2628900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34291"/>
            <a:ext cx="7734300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EEC42-DA93-168A-2B53-EF25A373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72F860-3138-4D6D-8E16-7172FEACE899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B2B8-EC58-8D37-46A2-4312FBD9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C8FE-9ACC-AEDE-88A1-C2C2CA5C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60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8792EE-EA1B-511C-9257-0EAF45224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812800"/>
            <a:ext cx="10515600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697C5F7-0279-4B15-1CB7-D1A483C70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CFADE-5B20-75C0-424F-0F2AFB6DF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fld id="{E0F2942C-538E-49F4-BC5F-AB443059ECD1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AFD65-0BAE-358D-C0AE-A5DD4E019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A6229-5562-F65D-A0BA-E4ABF542A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  <p:pic>
        <p:nvPicPr>
          <p:cNvPr id="1031" name="Picture 6">
            <a:extLst>
              <a:ext uri="{FF2B5EF4-FFF2-40B4-BE49-F238E27FC236}">
                <a16:creationId xmlns:a16="http://schemas.microsoft.com/office/drawing/2014/main" id="{AF28A348-F62E-1D25-462F-F2D80714B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136525"/>
            <a:ext cx="18002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">
            <a:extLst>
              <a:ext uri="{FF2B5EF4-FFF2-40B4-BE49-F238E27FC236}">
                <a16:creationId xmlns:a16="http://schemas.microsoft.com/office/drawing/2014/main" id="{2185E301-5D10-BC61-9226-34AFFC72B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3" t="24036" r="8813" b="24036"/>
          <a:stretch>
            <a:fillRect/>
          </a:stretch>
        </p:blipFill>
        <p:spPr bwMode="auto">
          <a:xfrm>
            <a:off x="10541000" y="44450"/>
            <a:ext cx="16256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313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4.xml"/><Relationship Id="rId1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029801825024357?utm_source=chatgpt.com" TargetMode="External"/><Relationship Id="rId2" Type="http://schemas.openxmlformats.org/officeDocument/2006/relationships/hyperlink" Target="https://www.sciencedirect.com/science/article/pii/S2590005625002668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302.01152?utm_source=chatgpt.com" TargetMode="External"/><Relationship Id="rId5" Type="http://schemas.openxmlformats.org/officeDocument/2006/relationships/hyperlink" Target="https://link.springer.com/article/10.1186/s40068-025-00407-5?utm_source=chatgpt.com" TargetMode="External"/><Relationship Id="rId4" Type="http://schemas.openxmlformats.org/officeDocument/2006/relationships/hyperlink" Target="https://www.sbt-durabi.org/articles/xml/bYw7/?utm_source=chatgpt.co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5DB5A7F-D498-1C36-5D2B-EB9D5D943F89}"/>
              </a:ext>
            </a:extLst>
          </p:cNvPr>
          <p:cNvSpPr txBox="1">
            <a:spLocks/>
          </p:cNvSpPr>
          <p:nvPr/>
        </p:nvSpPr>
        <p:spPr bwMode="auto">
          <a:xfrm>
            <a:off x="325513" y="664488"/>
            <a:ext cx="11540971" cy="1083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0" hangingPunct="0"/>
            <a:r>
              <a:rPr lang="en-US" dirty="0"/>
              <a:t>Personalized Carbon Footprint Prediction and Sustainability Optimization</a:t>
            </a:r>
            <a:endParaRPr lang="en-IN" dirty="0">
              <a:effectLst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3F242B4-ABBE-5A59-6061-6EBEA0793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303" y="4134567"/>
            <a:ext cx="7003997" cy="1898485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Apple Braille" pitchFamily="2" charset="0"/>
              </a:rPr>
              <a:t>Prepared By:  </a:t>
            </a:r>
            <a:r>
              <a:rPr lang="en-US" dirty="0">
                <a:latin typeface="Apple Braille" pitchFamily="2" charset="0"/>
              </a:rPr>
              <a:t>Yata </a:t>
            </a:r>
            <a:r>
              <a:rPr lang="en-US" dirty="0" err="1">
                <a:latin typeface="Apple Braille" pitchFamily="2" charset="0"/>
              </a:rPr>
              <a:t>veera</a:t>
            </a:r>
            <a:r>
              <a:rPr lang="en-US" dirty="0">
                <a:latin typeface="Apple Braille" pitchFamily="2" charset="0"/>
              </a:rPr>
              <a:t> shiva </a:t>
            </a:r>
            <a:r>
              <a:rPr lang="en-US" dirty="0" err="1">
                <a:latin typeface="Apple Braille" pitchFamily="2" charset="0"/>
              </a:rPr>
              <a:t>reddy</a:t>
            </a:r>
            <a:r>
              <a:rPr lang="en-US" dirty="0">
                <a:latin typeface="Apple Braille" pitchFamily="2" charset="0"/>
              </a:rPr>
              <a:t>, Mannem Ruthwik, </a:t>
            </a:r>
            <a:r>
              <a:rPr lang="en-US" dirty="0" err="1">
                <a:latin typeface="Apple Braille" pitchFamily="2" charset="0"/>
              </a:rPr>
              <a:t>Aparadapu</a:t>
            </a:r>
            <a:r>
              <a:rPr lang="en-US" dirty="0">
                <a:latin typeface="Apple Braille" pitchFamily="2" charset="0"/>
              </a:rPr>
              <a:t> Nithin</a:t>
            </a:r>
          </a:p>
          <a:p>
            <a:pPr algn="l"/>
            <a:r>
              <a:rPr lang="en-US" b="1" dirty="0">
                <a:latin typeface="Apple Braille" pitchFamily="2" charset="0"/>
              </a:rPr>
              <a:t>Regd. NO: </a:t>
            </a:r>
            <a:r>
              <a:rPr lang="en-US" dirty="0">
                <a:latin typeface="Apple Braille" pitchFamily="2" charset="0"/>
              </a:rPr>
              <a:t>12201954, 12219937, 12200783</a:t>
            </a:r>
          </a:p>
          <a:p>
            <a:pPr algn="l"/>
            <a:r>
              <a:rPr lang="en-US" b="1" dirty="0">
                <a:latin typeface="Apple Braille" pitchFamily="2" charset="0"/>
              </a:rPr>
              <a:t>ROLL No: </a:t>
            </a:r>
            <a:r>
              <a:rPr lang="en-US" dirty="0">
                <a:latin typeface="Apple Braille" pitchFamily="2" charset="0"/>
              </a:rPr>
              <a:t>R222UG,R222UR,R222UR</a:t>
            </a:r>
          </a:p>
          <a:p>
            <a:pPr algn="l"/>
            <a:r>
              <a:rPr lang="en-US" b="1" dirty="0">
                <a:latin typeface="Apple Braille" pitchFamily="2" charset="0"/>
              </a:rPr>
              <a:t>Course Code :  </a:t>
            </a:r>
            <a:r>
              <a:rPr lang="en-US" dirty="0">
                <a:latin typeface="Apple Braille" pitchFamily="2" charset="0"/>
              </a:rPr>
              <a:t>CSE416</a:t>
            </a:r>
            <a:endParaRPr lang="en-IN" dirty="0">
              <a:latin typeface="Apple Braille" pitchFamily="2" charset="0"/>
            </a:endParaRPr>
          </a:p>
          <a:p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1659EFB-C276-9685-8BB3-1C304A3FF6B3}"/>
              </a:ext>
            </a:extLst>
          </p:cNvPr>
          <p:cNvSpPr txBox="1">
            <a:spLocks/>
          </p:cNvSpPr>
          <p:nvPr/>
        </p:nvSpPr>
        <p:spPr>
          <a:xfrm>
            <a:off x="8209137" y="4447684"/>
            <a:ext cx="3982863" cy="2019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b="1" dirty="0">
                <a:latin typeface="Apple Braille" pitchFamily="2" charset="0"/>
              </a:rPr>
              <a:t>Submitted To:  MR. Aman Kumar</a:t>
            </a:r>
          </a:p>
          <a:p>
            <a:pPr algn="l"/>
            <a:r>
              <a:rPr lang="en-US" sz="1700" b="1" dirty="0">
                <a:latin typeface="Apple Braille" pitchFamily="2" charset="0"/>
              </a:rPr>
              <a:t>Dept: (CSE</a:t>
            </a:r>
            <a:r>
              <a:rPr lang="en-US" sz="1700" dirty="0">
                <a:latin typeface="Apple Braille" pitchFamily="2" charset="0"/>
              </a:rPr>
              <a:t>)</a:t>
            </a:r>
            <a:endParaRPr lang="en-IN" sz="1700" dirty="0">
              <a:latin typeface="Apple Braille" pitchFamily="2" charset="0"/>
            </a:endParaRPr>
          </a:p>
          <a:p>
            <a:pPr algn="l"/>
            <a:r>
              <a:rPr lang="en-US" sz="1700" b="1" dirty="0">
                <a:latin typeface="Apple Braille" pitchFamily="2" charset="0"/>
              </a:rPr>
              <a:t>University:  </a:t>
            </a:r>
            <a:r>
              <a:rPr lang="en-US" sz="1700" dirty="0">
                <a:latin typeface="Apple Braille" pitchFamily="2" charset="0"/>
              </a:rPr>
              <a:t>Lovely  Professional University Jalandhar Punjab India </a:t>
            </a:r>
            <a:endParaRPr lang="en-IN" sz="1700" dirty="0">
              <a:latin typeface="Apple Braille" pitchFamily="2" charset="0"/>
            </a:endParaRPr>
          </a:p>
          <a:p>
            <a:endParaRPr lang="en-US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2C6722F-19A2-AA11-94EF-15D9F8334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264" y="1977819"/>
            <a:ext cx="2498083" cy="150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79B8CAE-41A1-A49E-4E48-ADDEF9E9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7963" y="6356349"/>
            <a:ext cx="2743200" cy="365125"/>
          </a:xfrm>
        </p:spPr>
        <p:txBody>
          <a:bodyPr/>
          <a:lstStyle/>
          <a:p>
            <a:fld id="{1CC10BE2-3C26-5745-BCC0-8E079BF8AF08}" type="slidenum">
              <a:rPr lang="en-US" smtClean="0"/>
              <a:t>1</a:t>
            </a:fld>
            <a:endParaRPr lang="en-US" dirty="0"/>
          </a:p>
        </p:txBody>
      </p:sp>
      <p:pic>
        <p:nvPicPr>
          <p:cNvPr id="1028" name="Picture 4" descr="Upgrad | Radeontech">
            <a:extLst>
              <a:ext uri="{FF2B5EF4-FFF2-40B4-BE49-F238E27FC236}">
                <a16:creationId xmlns:a16="http://schemas.microsoft.com/office/drawing/2014/main" id="{5BAB64BA-9EF4-2ED9-A323-9D2D42066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915" y="1977819"/>
            <a:ext cx="1781012" cy="150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D7F3CC-8AAC-A679-CD7A-8614753F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1" y="661109"/>
            <a:ext cx="10515600" cy="946628"/>
          </a:xfrm>
        </p:spPr>
        <p:txBody>
          <a:bodyPr/>
          <a:lstStyle/>
          <a:p>
            <a:r>
              <a:rPr lang="en-US" dirty="0">
                <a:latin typeface="Apple Braille" pitchFamily="2" charset="0"/>
              </a:rPr>
              <a:t>Content of Presentation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162E08-F234-3249-D895-79831B2B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292" y="1607737"/>
            <a:ext cx="11599416" cy="488296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1. Introduction &amp; Recap (Brief)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2. Data Engineering &amp; Understanding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3. Data Pre-processing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4. System Design &amp; Methodology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5. Implementation (Work Done So Far)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6. Challenges &amp; Solutions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7. Future Plan (Evaluation 3)</a:t>
            </a:r>
          </a:p>
          <a:p>
            <a:r>
              <a:rPr lang="en-US" sz="1800" b="1" dirty="0"/>
              <a:t>8. References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A1324F-DB87-5C48-88DE-7CCA4148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865397"/>
            <a:ext cx="2743200" cy="365125"/>
          </a:xfrm>
        </p:spPr>
        <p:txBody>
          <a:bodyPr/>
          <a:lstStyle/>
          <a:p>
            <a:fld id="{1CC10BE2-3C26-5745-BCC0-8E079BF8AF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3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BA062-19D3-E464-CE7C-FACF7CD6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D0EF1A-1A7C-882D-18A6-632AB693C183}"/>
              </a:ext>
            </a:extLst>
          </p:cNvPr>
          <p:cNvSpPr txBox="1"/>
          <p:nvPr/>
        </p:nvSpPr>
        <p:spPr>
          <a:xfrm>
            <a:off x="80388" y="573916"/>
            <a:ext cx="12191999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1. Introduction &amp; Recap (Brief)</a:t>
            </a:r>
            <a:endParaRPr lang="en-US" sz="1200" dirty="0"/>
          </a:p>
          <a:p>
            <a:pPr lvl="1"/>
            <a:r>
              <a:rPr lang="en-US" sz="1200" dirty="0"/>
              <a:t>1.1 Project Title and Objectives: A quick reminder of the goal.</a:t>
            </a:r>
          </a:p>
          <a:p>
            <a:pPr lvl="1"/>
            <a:r>
              <a:rPr lang="en-US" sz="1200" dirty="0"/>
              <a:t>1.2 Problem Statement: The specific gap you are addressing.</a:t>
            </a:r>
          </a:p>
          <a:p>
            <a:pPr lvl="1"/>
            <a:r>
              <a:rPr lang="en-US" sz="1200" dirty="0"/>
              <a:t>1.3 Scope of Work (Phase 2): Clear list of what was promised for this evaluation.</a:t>
            </a:r>
          </a:p>
          <a:p>
            <a:r>
              <a:rPr lang="en-US" sz="1200" b="1" dirty="0"/>
              <a:t>2. Data Engineering &amp; Understanding</a:t>
            </a:r>
            <a:endParaRPr lang="en-US" sz="1200" dirty="0"/>
          </a:p>
          <a:p>
            <a:pPr lvl="1"/>
            <a:r>
              <a:rPr lang="en-US" sz="1200" dirty="0"/>
              <a:t>2.1 Data Collection/Sourcing: Details of the dataset (Kaggle, Web Scraping, APIs, or IoT sensors).</a:t>
            </a:r>
          </a:p>
          <a:p>
            <a:pPr lvl="1"/>
            <a:r>
              <a:rPr lang="en-US" sz="1200" dirty="0"/>
              <a:t>2.2 Data Description: Number of records, features (variables), and data types.</a:t>
            </a:r>
          </a:p>
          <a:p>
            <a:pPr lvl="1"/>
            <a:r>
              <a:rPr lang="en-US" sz="1200" dirty="0"/>
              <a:t>2.3 Exploratory Data Analysis (EDA): * Statistical summaries. </a:t>
            </a:r>
          </a:p>
          <a:p>
            <a:pPr lvl="2"/>
            <a:r>
              <a:rPr lang="en-US" sz="1200" dirty="0"/>
              <a:t>Visualizations (Histograms, Correlation Heatmaps, Box plots).</a:t>
            </a:r>
          </a:p>
          <a:p>
            <a:pPr lvl="2"/>
            <a:r>
              <a:rPr lang="en-US" sz="1200" dirty="0"/>
              <a:t>Insights gained (e.g., "Feature X is highly correlated with the target").</a:t>
            </a:r>
          </a:p>
          <a:p>
            <a:r>
              <a:rPr lang="en-US" sz="1200" b="1" dirty="0"/>
              <a:t>3. Data Pre-processing</a:t>
            </a:r>
            <a:endParaRPr lang="en-US" sz="1200" dirty="0"/>
          </a:p>
          <a:p>
            <a:pPr lvl="1"/>
            <a:r>
              <a:rPr lang="en-US" sz="1200" dirty="0"/>
              <a:t>3.1 Data Cleaning: Handling missing values, outliers, and duplicates.</a:t>
            </a:r>
          </a:p>
          <a:p>
            <a:pPr lvl="1"/>
            <a:r>
              <a:rPr lang="en-US" sz="1200" dirty="0"/>
              <a:t>3.2 Feature Engineering: * Feature Selection (removing redundant data).</a:t>
            </a:r>
          </a:p>
          <a:p>
            <a:pPr lvl="2"/>
            <a:r>
              <a:rPr lang="en-US" sz="1200" dirty="0"/>
              <a:t>Feature Scaling (Normalization/Standardization).</a:t>
            </a:r>
          </a:p>
          <a:p>
            <a:pPr lvl="2"/>
            <a:r>
              <a:rPr lang="en-US" sz="1200" dirty="0"/>
              <a:t>Encoding (One-Hot, Label Encoding for categorical data).</a:t>
            </a:r>
          </a:p>
          <a:p>
            <a:pPr lvl="1"/>
            <a:r>
              <a:rPr lang="en-US" sz="1200" dirty="0"/>
              <a:t>3.3 Data Splitting: Training, Validation, and Testing sets (e.g., 80/10/10 split).</a:t>
            </a:r>
          </a:p>
          <a:p>
            <a:r>
              <a:rPr lang="en-US" sz="1200" b="1" dirty="0"/>
              <a:t>4. System Design &amp; Methodology</a:t>
            </a:r>
            <a:endParaRPr lang="en-US" sz="1200" dirty="0"/>
          </a:p>
          <a:p>
            <a:pPr lvl="1"/>
            <a:r>
              <a:rPr lang="en-US" sz="1200" dirty="0"/>
              <a:t>4.1 Proposed System Architecture: A block diagram showing the flow from raw data to the final model.</a:t>
            </a:r>
          </a:p>
          <a:p>
            <a:pPr lvl="1"/>
            <a:r>
              <a:rPr lang="en-US" sz="1200" dirty="0"/>
              <a:t>4.2 Algorithm Selection: Why you chose specific models (e.g., Random Forest vs. </a:t>
            </a:r>
            <a:r>
              <a:rPr lang="en-US" sz="1200" dirty="0" err="1"/>
              <a:t>XGBoost</a:t>
            </a:r>
            <a:r>
              <a:rPr lang="en-US" sz="1200" dirty="0"/>
              <a:t>).</a:t>
            </a:r>
          </a:p>
          <a:p>
            <a:pPr lvl="1"/>
            <a:r>
              <a:rPr lang="en-US" sz="1200" dirty="0"/>
              <a:t>4.3 Mathematical Model: Relevant formulas or logic behind the chosen algorithm.</a:t>
            </a:r>
          </a:p>
          <a:p>
            <a:r>
              <a:rPr lang="en-US" sz="1200" b="1" dirty="0"/>
              <a:t>5. Implementation (Work Done So Far)</a:t>
            </a:r>
            <a:endParaRPr lang="en-US" sz="1200" dirty="0"/>
          </a:p>
          <a:p>
            <a:pPr lvl="1"/>
            <a:r>
              <a:rPr lang="en-US" sz="1200" dirty="0"/>
              <a:t>5.1 Baseline Model Results: Initial results from a simple model.</a:t>
            </a:r>
          </a:p>
          <a:p>
            <a:pPr lvl="1"/>
            <a:r>
              <a:rPr lang="en-US" sz="1200" dirty="0"/>
              <a:t>5.2 Performance Metrics: Accuracy, Precision, Recall, F1-Score, or RMSE/MAE (depending on the project).</a:t>
            </a:r>
          </a:p>
          <a:p>
            <a:pPr lvl="1"/>
            <a:r>
              <a:rPr lang="en-US" sz="1200" dirty="0"/>
              <a:t>5.3 Comparative Analysis: Comparison of at least 2–3 different algorithms.</a:t>
            </a:r>
          </a:p>
          <a:p>
            <a:pPr lvl="1"/>
            <a:r>
              <a:rPr lang="en-US" sz="1200" dirty="0"/>
              <a:t>5.4 Intermediate Screenshots: Snapshots of code execution or model training logs.</a:t>
            </a:r>
          </a:p>
          <a:p>
            <a:r>
              <a:rPr lang="en-US" sz="1200" b="1" dirty="0"/>
              <a:t>6. Challenges &amp; Solutions</a:t>
            </a:r>
            <a:endParaRPr lang="en-US" sz="1200" dirty="0"/>
          </a:p>
          <a:p>
            <a:pPr lvl="1"/>
            <a:r>
              <a:rPr lang="en-US" sz="1200" dirty="0"/>
              <a:t>6.1 Technical Hurdles: (e.g., Class imbalance, high computational cost).</a:t>
            </a:r>
          </a:p>
          <a:p>
            <a:pPr lvl="1"/>
            <a:r>
              <a:rPr lang="en-US" sz="1200" dirty="0"/>
              <a:t>6.2 Mitigations: How you solved these issues (e.g., SMOTE for imbalance).</a:t>
            </a:r>
          </a:p>
          <a:p>
            <a:r>
              <a:rPr lang="en-US" sz="1200" b="1" dirty="0"/>
              <a:t>7. Future Plan (Evaluation 3)</a:t>
            </a:r>
            <a:endParaRPr lang="en-US" sz="1200" dirty="0"/>
          </a:p>
          <a:p>
            <a:pPr lvl="1"/>
            <a:r>
              <a:rPr lang="en-US" sz="1200" dirty="0"/>
              <a:t>7.1 Pending Tasks: (e.g., Hyperparameter tuning, UI development, Deployment).</a:t>
            </a:r>
          </a:p>
          <a:p>
            <a:pPr lvl="1"/>
            <a:r>
              <a:rPr lang="en-US" sz="1200" dirty="0"/>
              <a:t>7.2 Project Timeline (Gantt Chart): Updated schedule for the final phase.</a:t>
            </a:r>
          </a:p>
          <a:p>
            <a:r>
              <a:rPr lang="en-US" sz="1200" b="1" dirty="0"/>
              <a:t>8. References    </a:t>
            </a:r>
          </a:p>
          <a:p>
            <a:r>
              <a:rPr lang="en-US" sz="1200" b="1" dirty="0"/>
              <a:t>            </a:t>
            </a:r>
            <a:r>
              <a:rPr lang="en-US" sz="1200" dirty="0"/>
              <a:t>Updated list of research papers and documentation used.</a:t>
            </a:r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9742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DF075B-1E96-DCBD-46E3-4DD98796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04CB2-1F9D-2F10-B036-E3C2CC6E9F1A}"/>
              </a:ext>
            </a:extLst>
          </p:cNvPr>
          <p:cNvSpPr txBox="1"/>
          <p:nvPr/>
        </p:nvSpPr>
        <p:spPr>
          <a:xfrm>
            <a:off x="688132" y="706408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+mj-lt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B1E0A-C76D-9E75-4A44-D0A84453B073}"/>
              </a:ext>
            </a:extLst>
          </p:cNvPr>
          <p:cNvSpPr txBox="1"/>
          <p:nvPr/>
        </p:nvSpPr>
        <p:spPr>
          <a:xfrm>
            <a:off x="838200" y="1291183"/>
            <a:ext cx="948223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+mj-lt"/>
              </a:rPr>
              <a:t>Project Title</a:t>
            </a:r>
          </a:p>
          <a:p>
            <a:r>
              <a:rPr lang="en-US" sz="2000" dirty="0">
                <a:latin typeface="+mj-lt"/>
              </a:rPr>
              <a:t>Personalized Carbon Footprint Prediction and Sustainability Optimization</a:t>
            </a:r>
            <a:endParaRPr lang="en-IN" sz="2000" dirty="0">
              <a:latin typeface="+mj-lt"/>
            </a:endParaRPr>
          </a:p>
          <a:p>
            <a:pPr>
              <a:buNone/>
            </a:pPr>
            <a:endParaRPr lang="en-US" sz="2000" b="1" dirty="0">
              <a:latin typeface="+mj-lt"/>
            </a:endParaRPr>
          </a:p>
          <a:p>
            <a:pPr>
              <a:buNone/>
            </a:pPr>
            <a:r>
              <a:rPr lang="en-US" sz="2000" b="1" dirty="0">
                <a:latin typeface="+mj-lt"/>
              </a:rPr>
              <a:t>Objectives:</a:t>
            </a:r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• Climate change is a major global challenge, and carbon footprint from daily human activities significantly contributes to greenhouse gas emissions.</a:t>
            </a:r>
          </a:p>
          <a:p>
            <a:r>
              <a:rPr lang="en-US" sz="2000" dirty="0">
                <a:latin typeface="+mj-lt"/>
              </a:rPr>
              <a:t>• Understanding and predicting individual carbon emissions helps people adopt more sustainable lifestyle choices.</a:t>
            </a:r>
          </a:p>
          <a:p>
            <a:r>
              <a:rPr lang="en-US" sz="2000" dirty="0">
                <a:latin typeface="+mj-lt"/>
              </a:rPr>
              <a:t>• This project develops a machine learning–based system to estimate a person's carbon footprint using lifestyle and consumption data.</a:t>
            </a:r>
          </a:p>
          <a:p>
            <a:r>
              <a:rPr lang="en-US" sz="2000" dirty="0">
                <a:latin typeface="+mj-lt"/>
              </a:rPr>
              <a:t>• Advanced models such as Random Forest, Deep Neural Networks, LSTM, and GRU are used to improve prediction accuracy.</a:t>
            </a:r>
          </a:p>
          <a:p>
            <a:r>
              <a:rPr lang="en-US" sz="2000" dirty="0">
                <a:latin typeface="+mj-lt"/>
              </a:rPr>
              <a:t>•The system also provides sustainability optimization suggestions to help individuals reduce their environmental impact.</a:t>
            </a:r>
          </a:p>
        </p:txBody>
      </p:sp>
    </p:spTree>
    <p:extLst>
      <p:ext uri="{BB962C8B-B14F-4D97-AF65-F5344CB8AC3E}">
        <p14:creationId xmlns:p14="http://schemas.microsoft.com/office/powerpoint/2010/main" val="3290921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9B5450-B0FD-0BCE-9480-6D127FAE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FCEF2-4FC3-4BFC-1FB3-F9EA3FFEA6B2}"/>
              </a:ext>
            </a:extLst>
          </p:cNvPr>
          <p:cNvSpPr txBox="1"/>
          <p:nvPr/>
        </p:nvSpPr>
        <p:spPr>
          <a:xfrm>
            <a:off x="838200" y="812165"/>
            <a:ext cx="10415295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+mj-lt"/>
              </a:rPr>
              <a:t>Problem Statement:</a:t>
            </a:r>
          </a:p>
          <a:p>
            <a:r>
              <a:rPr lang="en-US" sz="2000" dirty="0">
                <a:latin typeface="+mj-lt"/>
              </a:rPr>
              <a:t>• Many people are unaware of their personal carbon footprint and its environmental impact.</a:t>
            </a:r>
          </a:p>
          <a:p>
            <a:r>
              <a:rPr lang="en-US" sz="2000" dirty="0">
                <a:latin typeface="+mj-lt"/>
              </a:rPr>
              <a:t>• Existing carbon calculators provide generic estimates and lack personalized predictions.</a:t>
            </a:r>
          </a:p>
          <a:p>
            <a:r>
              <a:rPr lang="en-US" sz="2000" dirty="0">
                <a:latin typeface="+mj-lt"/>
              </a:rPr>
              <a:t>•Most systems do not analyze multiple lifestyle factors such as transportation, energy usage, diet,        and consumption habits together.</a:t>
            </a:r>
          </a:p>
          <a:p>
            <a:r>
              <a:rPr lang="en-US" sz="2000" dirty="0">
                <a:latin typeface="+mj-lt"/>
              </a:rPr>
              <a:t>•There is a need for a data-driven system that accurately predicts individual carbon emissions and suggests sustainable actions.</a:t>
            </a:r>
          </a:p>
          <a:p>
            <a:endParaRPr lang="en-US" sz="2000" dirty="0">
              <a:latin typeface="+mj-lt"/>
            </a:endParaRPr>
          </a:p>
          <a:p>
            <a:r>
              <a:rPr lang="en-IN" sz="2000" b="1" dirty="0">
                <a:latin typeface="+mj-lt"/>
              </a:rPr>
              <a:t>Scope of Work :</a:t>
            </a:r>
          </a:p>
          <a:p>
            <a:r>
              <a:rPr lang="en-US" sz="2000" dirty="0">
                <a:latin typeface="+mj-lt"/>
              </a:rPr>
              <a:t>• Collect and preprocess carbon emission lifestyle datasets.</a:t>
            </a:r>
          </a:p>
          <a:p>
            <a:r>
              <a:rPr lang="en-US" sz="2000" dirty="0">
                <a:latin typeface="+mj-lt"/>
              </a:rPr>
              <a:t>• Apply machine learning and deep learning models such as Random Forest, DNN, LSTM, and GRU for prediction.</a:t>
            </a:r>
          </a:p>
          <a:p>
            <a:r>
              <a:rPr lang="en-US" sz="2000" dirty="0">
                <a:latin typeface="+mj-lt"/>
              </a:rPr>
              <a:t>• Perform data analysis and anomaly detection to improve prediction reliability.</a:t>
            </a:r>
          </a:p>
          <a:p>
            <a:r>
              <a:rPr lang="en-US" sz="2000" dirty="0">
                <a:latin typeface="+mj-lt"/>
              </a:rPr>
              <a:t>• Develop a system that predicts carbon footprint and provides sustainability optimization recommendations.</a:t>
            </a:r>
          </a:p>
          <a:p>
            <a:endParaRPr lang="en-IN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1579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9DC0D3-202C-6CC8-F7AB-0B4FE089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6BF50-11A0-AE77-AC9D-96E6D7746DF7}"/>
              </a:ext>
            </a:extLst>
          </p:cNvPr>
          <p:cNvSpPr txBox="1"/>
          <p:nvPr/>
        </p:nvSpPr>
        <p:spPr>
          <a:xfrm>
            <a:off x="440482" y="689788"/>
            <a:ext cx="1131103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+mj-lt"/>
              </a:rPr>
              <a:t>Data Engineering &amp; Understanding</a:t>
            </a:r>
          </a:p>
          <a:p>
            <a:pPr>
              <a:buNone/>
            </a:pPr>
            <a:r>
              <a:rPr lang="en-US" sz="2000" dirty="0">
                <a:latin typeface="+mj-lt"/>
              </a:rPr>
              <a:t>The system uses a carbon footprint lifestyle dataset containing information about daily human activities such as transportation, energy usage, diet, and consumption habits.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These features are analyzed and processed to train machine learning and deep learning models for predicting an individual’s carbon emissions and identifying sustainable lifestyle improvements.</a:t>
            </a:r>
          </a:p>
          <a:p>
            <a:pPr>
              <a:buNone/>
            </a:pPr>
            <a:endParaRPr lang="en-US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Data Collection / Sourcing</a:t>
            </a:r>
          </a:p>
          <a:p>
            <a:r>
              <a:rPr lang="en-US" sz="2000" dirty="0">
                <a:latin typeface="+mj-lt"/>
              </a:rPr>
              <a:t>• The dataset used in this project is obtained from Our World in Data, a public research platform providing global environmental datasets.</a:t>
            </a:r>
          </a:p>
          <a:p>
            <a:r>
              <a:rPr lang="en-US" sz="2000" dirty="0">
                <a:latin typeface="+mj-lt"/>
              </a:rPr>
              <a:t>• The dataset includes lifestyle attributes such as transportation mode, energy consumption, food habits, and waste generation.</a:t>
            </a:r>
          </a:p>
          <a:p>
            <a:r>
              <a:rPr lang="en-US" sz="2000" dirty="0">
                <a:latin typeface="+mj-lt"/>
              </a:rPr>
              <a:t>• Data preprocessing techniques such as data cleaning, encoding, normalization, and feature engineering are applied.</a:t>
            </a:r>
          </a:p>
          <a:p>
            <a:r>
              <a:rPr lang="en-US" sz="2000" dirty="0">
                <a:latin typeface="+mj-lt"/>
              </a:rPr>
              <a:t>• The processed data is used to train predictive models to estimate personal carbon footprint and sustainability impact.</a:t>
            </a:r>
          </a:p>
          <a:p>
            <a:endParaRPr lang="en-US" sz="2000" dirty="0">
              <a:latin typeface="+mj-lt"/>
            </a:endParaRPr>
          </a:p>
          <a:p>
            <a:pPr>
              <a:buNone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68625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E651CA-2470-A73E-CCD7-302FA4DE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846CB-4B04-09D1-00E1-FDFB69BCAE53}"/>
              </a:ext>
            </a:extLst>
          </p:cNvPr>
          <p:cNvSpPr txBox="1"/>
          <p:nvPr/>
        </p:nvSpPr>
        <p:spPr>
          <a:xfrm>
            <a:off x="351842" y="679707"/>
            <a:ext cx="11488315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+mj-lt"/>
              </a:rPr>
              <a:t>Data Description</a:t>
            </a:r>
          </a:p>
          <a:p>
            <a:pPr>
              <a:buNone/>
            </a:pPr>
            <a:r>
              <a:rPr lang="en-IN" sz="2000" dirty="0">
                <a:latin typeface="+mj-lt"/>
              </a:rPr>
              <a:t>• </a:t>
            </a:r>
            <a:r>
              <a:rPr lang="en-US" sz="2000" dirty="0">
                <a:latin typeface="+mj-lt"/>
              </a:rPr>
              <a:t>The dataset is obtained from Our World in Data CO₂ emissions dataset.</a:t>
            </a:r>
          </a:p>
          <a:p>
            <a:pPr>
              <a:buNone/>
            </a:pPr>
            <a:r>
              <a:rPr lang="en-IN" sz="2000" dirty="0">
                <a:latin typeface="+mj-lt"/>
              </a:rPr>
              <a:t>• </a:t>
            </a:r>
            <a:r>
              <a:rPr lang="en-US" sz="2000" dirty="0">
                <a:latin typeface="+mj-lt"/>
              </a:rPr>
              <a:t>Dataset Shape: 50,411 rows and 12 columns representing global carbon emission records.</a:t>
            </a:r>
          </a:p>
          <a:p>
            <a:pPr>
              <a:buNone/>
            </a:pPr>
            <a:r>
              <a:rPr lang="en-IN" sz="2000" dirty="0">
                <a:latin typeface="+mj-lt"/>
              </a:rPr>
              <a:t>• </a:t>
            </a:r>
            <a:r>
              <a:rPr lang="en-US" sz="2000" dirty="0">
                <a:latin typeface="+mj-lt"/>
              </a:rPr>
              <a:t>The dataset includes features such as CO₂ emissions, population, energy consumption, fossil fuel usage, and industrial emissions.</a:t>
            </a:r>
          </a:p>
          <a:p>
            <a:pPr>
              <a:buNone/>
            </a:pPr>
            <a:r>
              <a:rPr lang="en-IN" sz="2000" dirty="0">
                <a:latin typeface="+mj-lt"/>
              </a:rPr>
              <a:t>• </a:t>
            </a:r>
            <a:r>
              <a:rPr lang="en-US" sz="2000" dirty="0">
                <a:latin typeface="+mj-lt"/>
              </a:rPr>
              <a:t>These numerical environmental indicators are used to train machine learning models for carbon footprint prediction.</a:t>
            </a:r>
          </a:p>
          <a:p>
            <a:pPr>
              <a:buNone/>
            </a:pPr>
            <a:endParaRPr lang="en-IN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Exploratory Data Analysis (EDA)</a:t>
            </a:r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• The dataset was analyzed to understand carbon emission patterns and trends across countries and years.</a:t>
            </a:r>
          </a:p>
          <a:p>
            <a:r>
              <a:rPr lang="en-US" sz="2000" dirty="0">
                <a:latin typeface="+mj-lt"/>
              </a:rPr>
              <a:t>• Missing values were handled and irrelevant columns were removed during preprocessing.</a:t>
            </a:r>
          </a:p>
          <a:p>
            <a:r>
              <a:rPr lang="en-US" sz="2000" dirty="0">
                <a:latin typeface="+mj-lt"/>
              </a:rPr>
              <a:t>• Feature scaling techniques such as </a:t>
            </a:r>
            <a:r>
              <a:rPr lang="en-US" sz="2000" dirty="0" err="1">
                <a:latin typeface="+mj-lt"/>
              </a:rPr>
              <a:t>StandardScaler</a:t>
            </a:r>
            <a:r>
              <a:rPr lang="en-US" sz="2000" dirty="0">
                <a:latin typeface="+mj-lt"/>
              </a:rPr>
              <a:t> or </a:t>
            </a:r>
            <a:r>
              <a:rPr lang="en-US" sz="2000" dirty="0" err="1">
                <a:latin typeface="+mj-lt"/>
              </a:rPr>
              <a:t>MinMaxScaler</a:t>
            </a:r>
            <a:r>
              <a:rPr lang="en-US" sz="2000" dirty="0">
                <a:latin typeface="+mj-lt"/>
              </a:rPr>
              <a:t> were applied to improve model performance.</a:t>
            </a:r>
          </a:p>
          <a:p>
            <a:r>
              <a:rPr lang="en-US" sz="2000" dirty="0">
                <a:latin typeface="+mj-lt"/>
              </a:rPr>
              <a:t>• Correlation analysis and feature selection were performed to identify the most influential factors affecting carbon emissions.</a:t>
            </a:r>
          </a:p>
          <a:p>
            <a:pPr>
              <a:buNone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986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20866C-E29D-6051-0A65-875DE50E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836869-4E32-EEB2-F326-D31C887E5C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23" t="40145" r="6875" b="21014"/>
          <a:stretch>
            <a:fillRect/>
          </a:stretch>
        </p:blipFill>
        <p:spPr>
          <a:xfrm>
            <a:off x="1490870" y="647884"/>
            <a:ext cx="9375914" cy="2663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C8A008-CA35-8CC8-2FBE-6BCA56519B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33" t="26667" r="7716" b="-1159"/>
          <a:stretch>
            <a:fillRect/>
          </a:stretch>
        </p:blipFill>
        <p:spPr>
          <a:xfrm>
            <a:off x="2604052" y="3235362"/>
            <a:ext cx="6808304" cy="362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2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0F1CBE-B1AA-CA5E-6B66-A098F1BD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B0376-8D06-6A9F-A65D-36FF12406424}"/>
              </a:ext>
            </a:extLst>
          </p:cNvPr>
          <p:cNvSpPr txBox="1"/>
          <p:nvPr/>
        </p:nvSpPr>
        <p:spPr>
          <a:xfrm>
            <a:off x="520959" y="639940"/>
            <a:ext cx="1115008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+mj-lt"/>
              </a:rPr>
              <a:t>Data Pre-processing</a:t>
            </a:r>
          </a:p>
          <a:p>
            <a:pPr>
              <a:buNone/>
            </a:pPr>
            <a:endParaRPr lang="en-US" dirty="0">
              <a:latin typeface="+mj-lt"/>
            </a:endParaRPr>
          </a:p>
          <a:p>
            <a:r>
              <a:rPr lang="en-US" sz="1900" b="1" dirty="0">
                <a:latin typeface="+mj-lt"/>
              </a:rPr>
              <a:t>Data Cleaning</a:t>
            </a:r>
          </a:p>
          <a:p>
            <a:r>
              <a:rPr lang="en-US" sz="1900" dirty="0">
                <a:latin typeface="+mj-lt"/>
              </a:rPr>
              <a:t>• </a:t>
            </a:r>
            <a:r>
              <a:rPr lang="en-US" sz="2000" dirty="0">
                <a:latin typeface="+mj-lt"/>
              </a:rPr>
              <a:t>The CO₂ emissions dataset from Our World in Data was examined for missing or inconsistent values.</a:t>
            </a:r>
          </a:p>
          <a:p>
            <a:r>
              <a:rPr lang="en-US" sz="1900" dirty="0">
                <a:latin typeface="+mj-lt"/>
              </a:rPr>
              <a:t>• </a:t>
            </a:r>
            <a:r>
              <a:rPr lang="en-US" sz="2000" dirty="0">
                <a:latin typeface="+mj-lt"/>
              </a:rPr>
              <a:t>Missing values were handled or removed to ensure reliable input for machine learning models.</a:t>
            </a:r>
          </a:p>
          <a:p>
            <a:r>
              <a:rPr lang="en-US" sz="1900" dirty="0">
                <a:latin typeface="+mj-lt"/>
              </a:rPr>
              <a:t>• </a:t>
            </a:r>
            <a:r>
              <a:rPr lang="en-US" sz="2000" dirty="0">
                <a:latin typeface="+mj-lt"/>
              </a:rPr>
              <a:t>Data formatting and consistency checks were performed so that all variables follow a structured numerical format.</a:t>
            </a:r>
          </a:p>
          <a:p>
            <a:r>
              <a:rPr lang="en-US" sz="1900" dirty="0">
                <a:latin typeface="+mj-lt"/>
              </a:rPr>
              <a:t>• </a:t>
            </a:r>
            <a:r>
              <a:rPr lang="en-US" sz="2000" dirty="0">
                <a:latin typeface="+mj-lt"/>
              </a:rPr>
              <a:t>These steps improve data quality and model prediction accuracy.</a:t>
            </a:r>
            <a:endParaRPr lang="en-US" sz="1900" dirty="0">
              <a:latin typeface="+mj-lt"/>
            </a:endParaRPr>
          </a:p>
          <a:p>
            <a:r>
              <a:rPr lang="en-US" sz="1900" b="1" dirty="0">
                <a:latin typeface="+mj-lt"/>
              </a:rPr>
              <a:t>Feature Engineering</a:t>
            </a:r>
          </a:p>
          <a:p>
            <a:r>
              <a:rPr lang="en-US" sz="1900" dirty="0">
                <a:latin typeface="+mj-lt"/>
              </a:rPr>
              <a:t>Feature engineering was used to prepare the data so that machine learning models can process it effectively.</a:t>
            </a:r>
          </a:p>
          <a:p>
            <a:r>
              <a:rPr lang="en-US" sz="1900" dirty="0">
                <a:latin typeface="+mj-lt"/>
              </a:rPr>
              <a:t>• </a:t>
            </a:r>
            <a:r>
              <a:rPr lang="en-US" sz="1900" b="1" dirty="0">
                <a:latin typeface="+mj-lt"/>
              </a:rPr>
              <a:t>Feature Selection - </a:t>
            </a:r>
            <a:r>
              <a:rPr lang="en-US" sz="1900" dirty="0">
                <a:latin typeface="+mj-lt"/>
              </a:rPr>
              <a:t>Important features such as symptoms, BMI, glucose level, age, and other health indicators were selected for training the models.</a:t>
            </a:r>
          </a:p>
          <a:p>
            <a:r>
              <a:rPr lang="en-US" sz="1900" dirty="0">
                <a:latin typeface="+mj-lt"/>
              </a:rPr>
              <a:t>• </a:t>
            </a:r>
            <a:r>
              <a:rPr lang="en-US" sz="1900" b="1" dirty="0">
                <a:latin typeface="+mj-lt"/>
              </a:rPr>
              <a:t>Feature Scaling - </a:t>
            </a:r>
            <a:r>
              <a:rPr lang="en-US" sz="1900" dirty="0">
                <a:latin typeface="+mj-lt"/>
              </a:rPr>
              <a:t>Numerical values were scaled using techniques like </a:t>
            </a:r>
            <a:r>
              <a:rPr lang="en-US" sz="1900" dirty="0" err="1">
                <a:latin typeface="+mj-lt"/>
              </a:rPr>
              <a:t>StandardScaler</a:t>
            </a:r>
            <a:r>
              <a:rPr lang="en-US" sz="1900" dirty="0">
                <a:latin typeface="+mj-lt"/>
              </a:rPr>
              <a:t> or </a:t>
            </a:r>
            <a:r>
              <a:rPr lang="en-US" sz="1900" dirty="0" err="1">
                <a:latin typeface="+mj-lt"/>
              </a:rPr>
              <a:t>MinMaxScaler</a:t>
            </a:r>
            <a:r>
              <a:rPr lang="en-US" sz="1900" dirty="0">
                <a:latin typeface="+mj-lt"/>
              </a:rPr>
              <a:t> to keep features within a similar range.</a:t>
            </a:r>
          </a:p>
          <a:p>
            <a:r>
              <a:rPr lang="en-US" sz="1900" dirty="0">
                <a:latin typeface="+mj-lt"/>
              </a:rPr>
              <a:t>• </a:t>
            </a:r>
            <a:r>
              <a:rPr lang="en-US" sz="1900" b="1" dirty="0">
                <a:latin typeface="+mj-lt"/>
              </a:rPr>
              <a:t>Encoding - </a:t>
            </a:r>
            <a:r>
              <a:rPr lang="en-US" sz="1900" dirty="0">
                <a:latin typeface="+mj-lt"/>
              </a:rPr>
              <a:t>Categorical features such as gender and smoking history were converted into numerical values using encoding techniques.</a:t>
            </a:r>
          </a:p>
          <a:p>
            <a:endParaRPr lang="en-US" sz="1900" dirty="0">
              <a:latin typeface="+mj-lt"/>
            </a:endParaRPr>
          </a:p>
          <a:p>
            <a:r>
              <a:rPr lang="en-US" sz="1900" b="1" dirty="0">
                <a:latin typeface="+mj-lt"/>
              </a:rPr>
              <a:t>Data Splitting</a:t>
            </a:r>
          </a:p>
          <a:p>
            <a:r>
              <a:rPr lang="en-US" sz="1900" dirty="0">
                <a:latin typeface="+mj-lt"/>
              </a:rPr>
              <a:t>• The datasets were divided into training and testing sets for model development and evaluation.</a:t>
            </a:r>
          </a:p>
          <a:p>
            <a:r>
              <a:rPr lang="en-US" sz="1900" dirty="0">
                <a:latin typeface="+mj-lt"/>
              </a:rPr>
              <a:t>• Typically, 80% of the data is used for training and 20% for testing to evaluate model performance.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3342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F79CF3-1ED5-F116-E1AC-3A012CD0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7F9CA-0AAD-B556-F034-1047B4AEFE16}"/>
              </a:ext>
            </a:extLst>
          </p:cNvPr>
          <p:cNvSpPr txBox="1"/>
          <p:nvPr/>
        </p:nvSpPr>
        <p:spPr>
          <a:xfrm>
            <a:off x="716125" y="799714"/>
            <a:ext cx="1118040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+mj-lt"/>
              </a:rPr>
              <a:t>System Design &amp; Methodology</a:t>
            </a:r>
          </a:p>
          <a:p>
            <a:r>
              <a:rPr lang="en-US" sz="2000" dirty="0">
                <a:latin typeface="+mj-lt"/>
              </a:rPr>
              <a:t>This section explains how the system processes carbon emission data, applies machine learning and deep learning models, and generates carbon footprint predictions along with sustainability optimization recommendations.</a:t>
            </a:r>
            <a:endParaRPr lang="en-IN" sz="20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3B587-CC04-7ECB-FAFC-3C266F58AA06}"/>
              </a:ext>
            </a:extLst>
          </p:cNvPr>
          <p:cNvSpPr txBox="1"/>
          <p:nvPr/>
        </p:nvSpPr>
        <p:spPr>
          <a:xfrm>
            <a:off x="716125" y="2173639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+mj-lt"/>
              </a:rPr>
              <a:t>Proposed System Architecture</a:t>
            </a:r>
          </a:p>
        </p:txBody>
      </p:sp>
      <p:pic>
        <p:nvPicPr>
          <p:cNvPr id="3076" name="Picture 4" descr="Carbon Footprint Prediction Flowchart">
            <a:extLst>
              <a:ext uri="{FF2B5EF4-FFF2-40B4-BE49-F238E27FC236}">
                <a16:creationId xmlns:a16="http://schemas.microsoft.com/office/drawing/2014/main" id="{7EBC8398-8A88-E40B-0F65-7556ADD05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287" y="1942071"/>
            <a:ext cx="3122907" cy="468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16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7F7503-A015-EFB5-B5E9-29238AE4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11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6AB30F-8CD6-5C17-8C3D-BFD20079F5BB}"/>
                  </a:ext>
                </a:extLst>
              </p:cNvPr>
              <p:cNvSpPr txBox="1"/>
              <p:nvPr/>
            </p:nvSpPr>
            <p:spPr>
              <a:xfrm>
                <a:off x="541176" y="617175"/>
                <a:ext cx="11513975" cy="6217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Algorithm Selection</a:t>
                </a:r>
              </a:p>
              <a:p>
                <a:pPr>
                  <a:buNone/>
                </a:pPr>
                <a:r>
                  <a:rPr lang="en-US" dirty="0">
                    <a:latin typeface="+mj-lt"/>
                  </a:rPr>
                  <a:t>Different machine learning and deep learning algorithms were selected to accurately predict carbon emissions and improve model performance.</a:t>
                </a:r>
              </a:p>
              <a:p>
                <a:pPr>
                  <a:buNone/>
                </a:pPr>
                <a:r>
                  <a:rPr lang="en-US" b="1" dirty="0">
                    <a:latin typeface="+mj-lt"/>
                  </a:rPr>
                  <a:t>Random Forest</a:t>
                </a:r>
              </a:p>
              <a:p>
                <a:pPr>
                  <a:buNone/>
                </a:pPr>
                <a:r>
                  <a:rPr lang="en-US" dirty="0">
                    <a:latin typeface="+mj-lt"/>
                  </a:rPr>
                  <a:t>• Used for carbon emission prediction using structured environmental data.</a:t>
                </a:r>
              </a:p>
              <a:p>
                <a:pPr>
                  <a:buNone/>
                </a:pPr>
                <a:r>
                  <a:rPr lang="en-US" dirty="0">
                    <a:latin typeface="+mj-lt"/>
                  </a:rPr>
                  <a:t>• Works well with numerical variables such as CO₂ emissions, population, and energy consumption.</a:t>
                </a:r>
              </a:p>
              <a:p>
                <a:pPr>
                  <a:buNone/>
                </a:pPr>
                <a:r>
                  <a:rPr lang="en-US" dirty="0">
                    <a:latin typeface="+mj-lt"/>
                  </a:rPr>
                  <a:t>• Random Forest builds multiple decision trees and combines their outputs, improving prediction accuracy.</a:t>
                </a:r>
                <a:br>
                  <a:rPr lang="en-US" dirty="0">
                    <a:latin typeface="+mj-lt"/>
                  </a:rPr>
                </a:br>
                <a:br>
                  <a:rPr lang="en-US" dirty="0">
                    <a:latin typeface="+mj-lt"/>
                  </a:rPr>
                </a:br>
                <a:r>
                  <a:rPr lang="en-IN" b="1" dirty="0">
                    <a:latin typeface="+mj-lt"/>
                  </a:rPr>
                  <a:t>Deep Neural Network (DNN)</a:t>
                </a:r>
                <a:endParaRPr lang="en-US" b="1" dirty="0">
                  <a:latin typeface="+mj-lt"/>
                </a:endParaRPr>
              </a:p>
              <a:p>
                <a:pPr>
                  <a:buNone/>
                </a:pPr>
                <a:r>
                  <a:rPr lang="en-US" dirty="0">
                    <a:latin typeface="+mj-lt"/>
                  </a:rPr>
                  <a:t>• Used to capture complex relationships between environmental indicators and carbon emissions. </a:t>
                </a:r>
              </a:p>
              <a:p>
                <a:pPr>
                  <a:buNone/>
                </a:pPr>
                <a:r>
                  <a:rPr lang="en-US" dirty="0">
                    <a:latin typeface="+mj-lt"/>
                  </a:rPr>
                  <a:t>• Consists of multiple hidden layers that learn patterns from large datasets.</a:t>
                </a:r>
                <a:br>
                  <a:rPr lang="en-US" dirty="0">
                    <a:latin typeface="+mj-lt"/>
                  </a:rPr>
                </a:br>
                <a:endParaRPr lang="en-US" dirty="0">
                  <a:latin typeface="+mj-lt"/>
                </a:endParaRPr>
              </a:p>
              <a:p>
                <a:pPr>
                  <a:buNone/>
                </a:pPr>
                <a:r>
                  <a:rPr lang="en-IN" b="1" dirty="0">
                    <a:latin typeface="+mj-lt"/>
                  </a:rPr>
                  <a:t>LSTM / GRU</a:t>
                </a:r>
                <a:br>
                  <a:rPr lang="en-IN" dirty="0">
                    <a:latin typeface="+mj-lt"/>
                  </a:rPr>
                </a:br>
                <a:r>
                  <a:rPr lang="en-US" dirty="0">
                    <a:latin typeface="+mj-lt"/>
                  </a:rPr>
                  <a:t>• Used for time-series analysis of carbon emissions over different years. </a:t>
                </a:r>
              </a:p>
              <a:p>
                <a:pPr>
                  <a:buNone/>
                </a:pPr>
                <a:r>
                  <a:rPr lang="en-US" dirty="0">
                    <a:latin typeface="+mj-lt"/>
                  </a:rPr>
                  <a:t>• These recurrent neural networks can learn temporal patterns in emission trends. </a:t>
                </a:r>
              </a:p>
              <a:p>
                <a:pPr>
                  <a:buNone/>
                </a:pPr>
                <a:r>
                  <a:rPr lang="en-IN" b="1" dirty="0">
                    <a:latin typeface="+mj-lt"/>
                  </a:rPr>
                  <a:t>Mathematical Model</a:t>
                </a:r>
                <a:endParaRPr lang="en-US" b="1" u="sng" dirty="0">
                  <a:latin typeface="+mj-lt"/>
                </a:endParaRPr>
              </a:p>
              <a:p>
                <a:r>
                  <a:rPr lang="en-US" dirty="0">
                    <a:latin typeface="+mj-lt"/>
                  </a:rPr>
                  <a:t>•</a:t>
                </a:r>
                <a:r>
                  <a:rPr lang="en-IN" b="1" dirty="0">
                    <a:latin typeface="+mj-lt"/>
                  </a:rPr>
                  <a:t> Random Forest</a:t>
                </a:r>
              </a:p>
              <a:p>
                <a:r>
                  <a:rPr lang="en-IN" dirty="0">
                    <a:latin typeface="+mj-lt"/>
                  </a:rPr>
                  <a:t>The final prediction is obtained by combining predictions from multiple decision trees.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𝑃𝑟𝑒𝑑𝑖𝑐𝑡𝑖𝑜𝑛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𝑀𝑎𝑗𝑜𝑟𝑖𝑡𝑦𝑉𝑜𝑡𝑒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𝑇𝑟𝑒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...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𝑇𝑟𝑒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>
                  <a:latin typeface="+mj-lt"/>
                </a:endParaRPr>
              </a:p>
              <a:p>
                <a:r>
                  <a:rPr lang="en-IN" b="1" dirty="0">
                    <a:latin typeface="+mj-lt"/>
                  </a:rPr>
                  <a:t>Deep Learning Model</a:t>
                </a:r>
              </a:p>
              <a:p>
                <a:r>
                  <a:rPr lang="en-IN" dirty="0">
                    <a:latin typeface="+mj-lt"/>
                  </a:rPr>
                  <a:t>A neural network computes predictions using weighted inputs and activation functions.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𝑊𝑋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6AB30F-8CD6-5C17-8C3D-BFD20079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76" y="617175"/>
                <a:ext cx="11513975" cy="6217087"/>
              </a:xfrm>
              <a:prstGeom prst="rect">
                <a:avLst/>
              </a:prstGeom>
              <a:blipFill>
                <a:blip r:embed="rId2"/>
                <a:stretch>
                  <a:fillRect l="-582" t="-490" r="-2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266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E5C147-DCDE-966C-BC6D-AD6769961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45A35F-77DA-6E69-A0DC-F6785EE11C96}"/>
              </a:ext>
            </a:extLst>
          </p:cNvPr>
          <p:cNvSpPr txBox="1"/>
          <p:nvPr/>
        </p:nvSpPr>
        <p:spPr>
          <a:xfrm>
            <a:off x="599770" y="494627"/>
            <a:ext cx="1063481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+mj-lt"/>
              </a:rPr>
              <a:t>Implementation</a:t>
            </a:r>
          </a:p>
          <a:p>
            <a:r>
              <a:rPr lang="en-US" b="1" dirty="0">
                <a:latin typeface="+mj-lt"/>
              </a:rPr>
              <a:t>Baseline Model Results</a:t>
            </a:r>
          </a:p>
          <a:p>
            <a:r>
              <a:rPr lang="en-US" dirty="0">
                <a:latin typeface="+mj-lt"/>
              </a:rPr>
              <a:t>• Initial machine learning and deep learning models were trained using the processed CO₂ emissions dataset from Our World in Data.</a:t>
            </a:r>
          </a:p>
          <a:p>
            <a:r>
              <a:rPr lang="en-US" dirty="0">
                <a:latin typeface="+mj-lt"/>
              </a:rPr>
              <a:t>• Models such as Random Forest, Deep Neural Networks (DNN), and LSTM/GRU were used to predict carbon emission values.</a:t>
            </a:r>
          </a:p>
          <a:p>
            <a:r>
              <a:rPr lang="en-US" dirty="0">
                <a:latin typeface="+mj-lt"/>
              </a:rPr>
              <a:t>• The dataset was divided into training and testing sets (80% training, 20% testing).</a:t>
            </a:r>
          </a:p>
          <a:p>
            <a:r>
              <a:rPr lang="en-US" dirty="0">
                <a:latin typeface="+mj-lt"/>
              </a:rPr>
              <a:t>• The trained models were evaluated to determine how accurately they predict carbon footprint values.</a:t>
            </a:r>
          </a:p>
          <a:p>
            <a:r>
              <a:rPr lang="en-US" b="1" dirty="0">
                <a:latin typeface="+mj-lt"/>
              </a:rPr>
              <a:t>Performance Metrics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Model performance was evaluated using standard classification metrics.</a:t>
            </a:r>
          </a:p>
          <a:p>
            <a:r>
              <a:rPr lang="en-US" dirty="0">
                <a:latin typeface="+mj-lt"/>
              </a:rPr>
              <a:t>• Accuracy – Percentage of correct predictions.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• Precision – Correctly predicted positive cases.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• Recall – Correctly identified actual positive cases.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• F1-Score – Balance between precision and recall.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• ROC-AUC – Measures the model’s ability to distinguish between classes.</a:t>
            </a:r>
          </a:p>
          <a:p>
            <a:endParaRPr lang="en-US" dirty="0">
              <a:latin typeface="+mj-lt"/>
            </a:endParaRP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979A22E-DED1-1F6F-94F5-509AD87E6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982" y="4825872"/>
            <a:ext cx="101822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0D19A4-6D0B-701B-F7C0-6B29E7953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175207"/>
              </p:ext>
            </p:extLst>
          </p:nvPr>
        </p:nvGraphicFramePr>
        <p:xfrm>
          <a:off x="718983" y="5195183"/>
          <a:ext cx="10515600" cy="1526291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7750907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360289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003507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71491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41549312"/>
                    </a:ext>
                  </a:extLst>
                </a:gridCol>
              </a:tblGrid>
              <a:tr h="32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192783"/>
                  </a:ext>
                </a:extLst>
              </a:tr>
              <a:tr h="32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13128"/>
                  </a:ext>
                </a:extLst>
              </a:tr>
              <a:tr h="32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DNN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512421"/>
                  </a:ext>
                </a:extLst>
              </a:tr>
              <a:tr h="55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LSTM</a:t>
                      </a:r>
                    </a:p>
                    <a:p>
                      <a:pPr>
                        <a:buNone/>
                      </a:pPr>
                      <a:r>
                        <a:rPr lang="en-US" b="1" dirty="0"/>
                        <a:t>GRU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90%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89%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89%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87%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86%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85%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87%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82%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063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73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9A1083-F24E-A676-1CF4-6D2262FF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13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1DC54F-912E-5795-7832-32448BEBC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36" y="597073"/>
            <a:ext cx="99699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Comparative Analysis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296BBA-0F8A-1151-1FEB-ACA5C0C3C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129969"/>
              </p:ext>
            </p:extLst>
          </p:nvPr>
        </p:nvGraphicFramePr>
        <p:xfrm>
          <a:off x="108154" y="1157477"/>
          <a:ext cx="12211665" cy="5264456"/>
        </p:xfrm>
        <a:graphic>
          <a:graphicData uri="http://schemas.openxmlformats.org/drawingml/2006/table">
            <a:tbl>
              <a:tblPr/>
              <a:tblGrid>
                <a:gridCol w="2753033">
                  <a:extLst>
                    <a:ext uri="{9D8B030D-6E8A-4147-A177-3AD203B41FA5}">
                      <a16:colId xmlns:a16="http://schemas.microsoft.com/office/drawing/2014/main" val="1066340938"/>
                    </a:ext>
                  </a:extLst>
                </a:gridCol>
                <a:gridCol w="2989006">
                  <a:extLst>
                    <a:ext uri="{9D8B030D-6E8A-4147-A177-3AD203B41FA5}">
                      <a16:colId xmlns:a16="http://schemas.microsoft.com/office/drawing/2014/main" val="133088573"/>
                    </a:ext>
                  </a:extLst>
                </a:gridCol>
                <a:gridCol w="6469626">
                  <a:extLst>
                    <a:ext uri="{9D8B030D-6E8A-4147-A177-3AD203B41FA5}">
                      <a16:colId xmlns:a16="http://schemas.microsoft.com/office/drawing/2014/main" val="1182367526"/>
                    </a:ext>
                  </a:extLst>
                </a:gridCol>
              </a:tblGrid>
              <a:tr h="232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Observations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895261"/>
                  </a:ext>
                </a:extLst>
              </a:tr>
              <a:tr h="709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78%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Simple baseline model. Works well for linear relationships but struggles with complex emission patterns.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190693"/>
                  </a:ext>
                </a:extLst>
              </a:tr>
              <a:tr h="869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85%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Captures nonlinear relationships but may overfit when the dataset becomes large.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329609"/>
                  </a:ext>
                </a:extLst>
              </a:tr>
              <a:tr h="709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91%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Combines multiple trees to improve prediction accuracy and reduce overfitting.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240545"/>
                  </a:ext>
                </a:extLst>
              </a:tr>
              <a:tr h="869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Deep Neural Network (DNN)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93%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Learns complex patterns in environmental data and improves prediction performance.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400787"/>
                  </a:ext>
                </a:extLst>
              </a:tr>
              <a:tr h="102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89%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Effective for analyzing temporal carbon emission trends across years.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556428"/>
                  </a:ext>
                </a:extLst>
              </a:tr>
              <a:tr h="709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GRU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90%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Similar to LSTM but faster and computationally efficient for time-series emission data.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969615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D0ECFA1A-8381-1EF6-AE6B-F210A5C98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1516360"/>
            <a:ext cx="1847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829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932460-C190-DCE9-D6A4-064236EE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46E2B-A83E-802A-FF97-C50A0C646225}"/>
              </a:ext>
            </a:extLst>
          </p:cNvPr>
          <p:cNvSpPr txBox="1"/>
          <p:nvPr/>
        </p:nvSpPr>
        <p:spPr>
          <a:xfrm>
            <a:off x="427704" y="585043"/>
            <a:ext cx="11336592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+mj-lt"/>
              </a:rPr>
              <a:t>Challenges &amp; Solutions</a:t>
            </a:r>
          </a:p>
          <a:p>
            <a:r>
              <a:rPr lang="en-US" sz="2000" dirty="0">
                <a:latin typeface="+mj-lt"/>
              </a:rPr>
              <a:t>This section explains the technical challenges faced during the development of the carbon footprint prediction system and the solutions implemented to address them.</a:t>
            </a:r>
          </a:p>
          <a:p>
            <a:endParaRPr lang="en-IN" sz="2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Technical Hurdles</a:t>
            </a:r>
          </a:p>
          <a:p>
            <a:r>
              <a:rPr lang="en-US" sz="2000" dirty="0">
                <a:latin typeface="+mj-lt"/>
              </a:rPr>
              <a:t>• The CO₂ emissions dataset contained missing values and inconsistent records across different countries and years.</a:t>
            </a:r>
          </a:p>
          <a:p>
            <a:r>
              <a:rPr lang="en-US" sz="2000" dirty="0">
                <a:latin typeface="+mj-lt"/>
              </a:rPr>
              <a:t>• Environmental datasets contain multiple correlated variables such as energy consumption, population, and fossil fuel usage, making feature selection challenging.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• Handling large-scale global data with different emission patterns over time required careful preprocessing.</a:t>
            </a:r>
          </a:p>
          <a:p>
            <a:r>
              <a:rPr lang="en-US" sz="2000" dirty="0">
                <a:latin typeface="+mj-lt"/>
              </a:rPr>
              <a:t>•Selecting the most suitable ML and deep learning models for accurate carbon emission prediction.</a:t>
            </a:r>
            <a:br>
              <a:rPr lang="en-US" sz="2000" dirty="0">
                <a:latin typeface="+mj-lt"/>
              </a:rPr>
            </a:br>
            <a:r>
              <a:rPr lang="en-US" sz="2000" b="1" dirty="0">
                <a:latin typeface="+mj-lt"/>
              </a:rPr>
              <a:t>Mitigations</a:t>
            </a:r>
          </a:p>
          <a:p>
            <a:r>
              <a:rPr lang="en-US" sz="2000" dirty="0">
                <a:latin typeface="+mj-lt"/>
              </a:rPr>
              <a:t>• Data cleaning and preprocessing techniques were applied to handle missing values and remove irrelevant features.</a:t>
            </a:r>
          </a:p>
          <a:p>
            <a:r>
              <a:rPr lang="en-US" sz="2000" dirty="0">
                <a:latin typeface="+mj-lt"/>
              </a:rPr>
              <a:t>• Feature selection and correlation analysis were used to identify the most important variables affecting carbon emissions.</a:t>
            </a:r>
          </a:p>
          <a:p>
            <a:r>
              <a:rPr lang="en-US" sz="2000" dirty="0">
                <a:latin typeface="+mj-lt"/>
              </a:rPr>
              <a:t>• Feature scaling techniques such as </a:t>
            </a:r>
            <a:r>
              <a:rPr lang="en-US" sz="2000" dirty="0" err="1">
                <a:latin typeface="+mj-lt"/>
              </a:rPr>
              <a:t>StandardScaler</a:t>
            </a:r>
            <a:r>
              <a:rPr lang="en-US" sz="2000" dirty="0">
                <a:latin typeface="+mj-lt"/>
              </a:rPr>
              <a:t> were applied to normalize numerical variables.</a:t>
            </a:r>
          </a:p>
          <a:p>
            <a:r>
              <a:rPr lang="en-US" sz="2000" dirty="0">
                <a:latin typeface="+mj-lt"/>
              </a:rPr>
              <a:t>• Multiple models (Random Forest, DNN, LSTM, and GRU) were trained and compared to select the best-performing model for prediction.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4594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0C64AE-57B2-6A41-A565-238A3A07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266E9-BA28-99BB-5DFE-7F3A3D427331}"/>
              </a:ext>
            </a:extLst>
          </p:cNvPr>
          <p:cNvSpPr txBox="1"/>
          <p:nvPr/>
        </p:nvSpPr>
        <p:spPr>
          <a:xfrm>
            <a:off x="934064" y="535290"/>
            <a:ext cx="10569677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dirty="0">
                <a:latin typeface="+mj-lt"/>
              </a:rPr>
              <a:t>Future Plan</a:t>
            </a:r>
            <a:endParaRPr lang="en-US" sz="3200" b="1" dirty="0">
              <a:latin typeface="+mj-lt"/>
            </a:endParaRPr>
          </a:p>
          <a:p>
            <a:pPr>
              <a:buNone/>
            </a:pPr>
            <a:r>
              <a:rPr lang="en-US" b="1" dirty="0">
                <a:latin typeface="+mj-lt"/>
              </a:rPr>
              <a:t>Pending Tasks</a:t>
            </a:r>
          </a:p>
          <a:p>
            <a:pPr>
              <a:buNone/>
            </a:pPr>
            <a:r>
              <a:rPr lang="en-US" dirty="0">
                <a:latin typeface="+mj-lt"/>
              </a:rPr>
              <a:t>• Improving the </a:t>
            </a:r>
            <a:r>
              <a:rPr lang="en-US" dirty="0" err="1">
                <a:latin typeface="+mj-lt"/>
              </a:rPr>
              <a:t>Streamlit</a:t>
            </a:r>
            <a:r>
              <a:rPr lang="en-US" dirty="0">
                <a:latin typeface="+mj-lt"/>
              </a:rPr>
              <a:t> user interface to make the application more user-friendly and interactive.</a:t>
            </a:r>
          </a:p>
          <a:p>
            <a:pPr>
              <a:buNone/>
            </a:pPr>
            <a:r>
              <a:rPr lang="en-US" dirty="0">
                <a:latin typeface="+mj-lt"/>
              </a:rPr>
              <a:t>• Integration of all models into the context-aware prediction engine for smoother predictions.</a:t>
            </a:r>
          </a:p>
          <a:p>
            <a:pPr>
              <a:buNone/>
            </a:pPr>
            <a:r>
              <a:rPr lang="en-US" dirty="0">
                <a:latin typeface="+mj-lt"/>
              </a:rPr>
              <a:t>• Testing and validation of the complete system using different input scenarios.</a:t>
            </a:r>
          </a:p>
          <a:p>
            <a:pPr>
              <a:buNone/>
            </a:pPr>
            <a:r>
              <a:rPr lang="en-US" dirty="0">
                <a:latin typeface="+mj-lt"/>
              </a:rPr>
              <a:t>• Final documentation and project report preparation.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BC357-AFDC-5F8D-5F6A-064DD2937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58" y="2706154"/>
            <a:ext cx="11457359" cy="36165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0071B3-8F25-1C16-B416-A37898C9298A}"/>
                  </a:ext>
                </a:extLst>
              </p14:cNvPr>
              <p14:cNvContentPartPr/>
              <p14:nvPr/>
            </p14:nvContentPartPr>
            <p14:xfrm>
              <a:off x="4680290" y="4011596"/>
              <a:ext cx="10440" cy="236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0071B3-8F25-1C16-B416-A37898C929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1290" y="3957596"/>
                <a:ext cx="2808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2041919-6050-CB26-355E-7BE90F8F2685}"/>
                  </a:ext>
                </a:extLst>
              </p14:cNvPr>
              <p14:cNvContentPartPr/>
              <p14:nvPr/>
            </p14:nvContentPartPr>
            <p14:xfrm>
              <a:off x="4680290" y="4031036"/>
              <a:ext cx="6480" cy="202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2041919-6050-CB26-355E-7BE90F8F26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62290" y="3923396"/>
                <a:ext cx="4212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0D1DEED-EAF5-EF31-4634-C840B79FF9FB}"/>
                  </a:ext>
                </a:extLst>
              </p14:cNvPr>
              <p14:cNvContentPartPr/>
              <p14:nvPr/>
            </p14:nvContentPartPr>
            <p14:xfrm>
              <a:off x="3687050" y="33383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0D1DEED-EAF5-EF31-4634-C840B79FF9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51050" y="118196"/>
                <a:ext cx="72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447E7E6-DF0C-82F0-90EF-49A9E454BEC9}"/>
                  </a:ext>
                </a:extLst>
              </p14:cNvPr>
              <p14:cNvContentPartPr/>
              <p14:nvPr/>
            </p14:nvContentPartPr>
            <p14:xfrm>
              <a:off x="4699730" y="3991595"/>
              <a:ext cx="360" cy="255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447E7E6-DF0C-82F0-90EF-49A9E454BEC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63730" y="3775955"/>
                <a:ext cx="72000" cy="6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14A1F5D-503B-3185-3884-5AC57C7C2A3F}"/>
                  </a:ext>
                </a:extLst>
              </p14:cNvPr>
              <p14:cNvContentPartPr/>
              <p14:nvPr/>
            </p14:nvContentPartPr>
            <p14:xfrm>
              <a:off x="7246010" y="5250515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14A1F5D-503B-3185-3884-5AC57C7C2A3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39890" y="524439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8890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4AD2-C005-B8ED-3923-E94FC1D3A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7808" y="498157"/>
            <a:ext cx="2194249" cy="70809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7427E-8C7C-BB26-B75F-21B400622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9128"/>
            <a:ext cx="12192000" cy="5468872"/>
          </a:xfrm>
        </p:spPr>
        <p:txBody>
          <a:bodyPr/>
          <a:lstStyle/>
          <a:p>
            <a:pPr marL="0" lvl="0" indent="0" defTabSz="91440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Ghannam, S., </a:t>
            </a:r>
            <a:r>
              <a:rPr lang="en-US" altLang="en-US" sz="1800" i="1" dirty="0">
                <a:latin typeface="Arial" panose="020B0604020202020204" pitchFamily="34" charset="0"/>
              </a:rPr>
              <a:t>An explainable comparative study of statistical, machine learning, deep learning, </a:t>
            </a:r>
          </a:p>
          <a:p>
            <a:pPr marL="0" indent="0" defTabSz="91440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 and hybrid models for CO₂ emissions forecasting in Australia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marL="0" indent="0" defTabSz="91440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Available at: </a:t>
            </a:r>
            <a:r>
              <a:rPr lang="en-US" altLang="en-US" sz="1800" dirty="0">
                <a:latin typeface="Arial" panose="020B0604020202020204" pitchFamily="34" charset="0"/>
                <a:hlinkClick r:id="rId2"/>
              </a:rPr>
              <a:t>https://www.sciencedirect.com/science/article/pii/S2590005625002668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Şahin, V., </a:t>
            </a:r>
            <a:r>
              <a:rPr lang="en-US" altLang="en-US" sz="1800" i="1" dirty="0">
                <a:latin typeface="Arial" panose="020B0604020202020204" pitchFamily="34" charset="0"/>
              </a:rPr>
              <a:t>Explainable machine learning-based prediction of CO₂ emissions using Extreme Gradient       Boosting (</a:t>
            </a:r>
            <a:r>
              <a:rPr lang="en-US" altLang="en-US" sz="1800" i="1" dirty="0" err="1">
                <a:latin typeface="Arial" panose="020B0604020202020204" pitchFamily="34" charset="0"/>
              </a:rPr>
              <a:t>XGBoost</a:t>
            </a:r>
            <a:r>
              <a:rPr lang="en-US" altLang="en-US" sz="1800" i="1" dirty="0">
                <a:latin typeface="Arial" panose="020B0604020202020204" pitchFamily="34" charset="0"/>
              </a:rPr>
              <a:t>)</a:t>
            </a:r>
            <a:r>
              <a:rPr lang="en-US" altLang="en-US" sz="1800" dirty="0">
                <a:latin typeface="Arial" panose="020B0604020202020204" pitchFamily="34" charset="0"/>
              </a:rPr>
              <a:t> (2025).</a:t>
            </a:r>
          </a:p>
          <a:p>
            <a:pPr marL="0" indent="0" defTabSz="91440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Available at: </a:t>
            </a:r>
            <a:r>
              <a:rPr lang="en-US" altLang="en-US" sz="1800" dirty="0">
                <a:latin typeface="Arial" panose="020B0604020202020204" pitchFamily="34" charset="0"/>
                <a:hlinkClick r:id="rId3"/>
              </a:rPr>
              <a:t>https://www.sciencedirect.com/science/article/abs/pii/S0029801825024357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 dirty="0" err="1">
                <a:latin typeface="Arial" panose="020B0604020202020204" pitchFamily="34" charset="0"/>
              </a:rPr>
              <a:t>Keykele</a:t>
            </a:r>
            <a:r>
              <a:rPr lang="en-US" altLang="en-US" sz="1800" dirty="0">
                <a:latin typeface="Arial" panose="020B0604020202020204" pitchFamily="34" charset="0"/>
              </a:rPr>
              <a:t>, M. P., </a:t>
            </a:r>
            <a:r>
              <a:rPr lang="en-US" altLang="en-US" sz="1800" i="1" dirty="0">
                <a:latin typeface="Arial" panose="020B0604020202020204" pitchFamily="34" charset="0"/>
              </a:rPr>
              <a:t>Predicting residential CO₂ emissions: Machine learning and LSTM comparison</a:t>
            </a:r>
            <a:r>
              <a:rPr lang="en-US" altLang="en-US" sz="1800" dirty="0">
                <a:latin typeface="Arial" panose="020B0604020202020204" pitchFamily="34" charset="0"/>
              </a:rPr>
              <a:t> (2025).</a:t>
            </a:r>
          </a:p>
          <a:p>
            <a:pPr marL="0" indent="0" defTabSz="91440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Available at: </a:t>
            </a:r>
            <a:r>
              <a:rPr lang="en-US" altLang="en-US" sz="1800" dirty="0">
                <a:latin typeface="Arial" panose="020B0604020202020204" pitchFamily="34" charset="0"/>
                <a:hlinkClick r:id="rId4"/>
              </a:rPr>
              <a:t>https://www.sbt-durabi.org/articles/xml/bYw7/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Adam, A. M., </a:t>
            </a:r>
            <a:r>
              <a:rPr lang="en-US" altLang="en-US" sz="1800" i="1" dirty="0">
                <a:latin typeface="Arial" panose="020B0604020202020204" pitchFamily="34" charset="0"/>
              </a:rPr>
              <a:t>Exploring machine learning models for predicting greenhouse gas emissions in buildings</a:t>
            </a:r>
            <a:r>
              <a:rPr lang="en-US" altLang="en-US" sz="1800" dirty="0">
                <a:latin typeface="Arial" panose="020B0604020202020204" pitchFamily="34" charset="0"/>
              </a:rPr>
              <a:t> (2025).</a:t>
            </a:r>
          </a:p>
          <a:p>
            <a:pPr marL="0" lvl="0" indent="0" defTabSz="91440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Available at: </a:t>
            </a:r>
            <a:r>
              <a:rPr lang="en-US" altLang="en-US" sz="1800" dirty="0">
                <a:latin typeface="Arial" panose="020B0604020202020204" pitchFamily="34" charset="0"/>
                <a:hlinkClick r:id="rId5"/>
              </a:rPr>
              <a:t>https://link.springer.com/article/10.1186/s40068-025-00407-5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Li, X., </a:t>
            </a:r>
            <a:r>
              <a:rPr lang="en-US" altLang="en-US" sz="1800" i="1" dirty="0">
                <a:latin typeface="Arial" panose="020B0604020202020204" pitchFamily="34" charset="0"/>
              </a:rPr>
              <a:t>A comparative study of statistical and machine learning models on near-real-time daily emissions prediction</a:t>
            </a:r>
            <a:r>
              <a:rPr lang="en-US" altLang="en-US" sz="1800" dirty="0">
                <a:latin typeface="Arial" panose="020B0604020202020204" pitchFamily="34" charset="0"/>
              </a:rPr>
              <a:t> (2023).</a:t>
            </a:r>
          </a:p>
          <a:p>
            <a:pPr marL="0" indent="0" defTabSz="91440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Preprint: </a:t>
            </a:r>
            <a:r>
              <a:rPr lang="en-US" altLang="en-US" sz="1800" dirty="0">
                <a:latin typeface="Arial" panose="020B0604020202020204" pitchFamily="34" charset="0"/>
                <a:hlinkClick r:id="rId6"/>
              </a:rPr>
              <a:t>https://arxiv.org/abs/2302.01152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55CE0-3CFA-5692-73FD-94E03617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588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004598-8D65-09FC-0DB6-683D0B602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2762" y="2286794"/>
            <a:ext cx="6086475" cy="3429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AA761-F15F-D3F0-58F3-689753BB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95027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404_LEC0  -  Compatibility Mode" id="{3BDF6A17-ACBD-4545-BE13-AE1053292383}" vid="{F9445E81-6C4F-4E11-A32D-3F55FC671F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INT404_LEC0 TEMPLATE</Template>
  <TotalTime>1920</TotalTime>
  <Words>2213</Words>
  <Application>Microsoft Office PowerPoint</Application>
  <PresentationFormat>Widescreen</PresentationFormat>
  <Paragraphs>232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Apple Braille</vt:lpstr>
      <vt:lpstr>Arial</vt:lpstr>
      <vt:lpstr>Calibri</vt:lpstr>
      <vt:lpstr>Calibri Light</vt:lpstr>
      <vt:lpstr>Cambria Math</vt:lpstr>
      <vt:lpstr>Times New Roman</vt:lpstr>
      <vt:lpstr>Theme1</vt:lpstr>
      <vt:lpstr>PowerPoint Presentation</vt:lpstr>
      <vt:lpstr>Content of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Revolution: Be the Change</dc:title>
  <dc:creator>Aashish</dc:creator>
  <cp:lastModifiedBy>Nithin Aparadapu</cp:lastModifiedBy>
  <cp:revision>102</cp:revision>
  <dcterms:created xsi:type="dcterms:W3CDTF">2025-01-04T06:25:56Z</dcterms:created>
  <dcterms:modified xsi:type="dcterms:W3CDTF">2026-03-16T06:06:42Z</dcterms:modified>
</cp:coreProperties>
</file>