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919" r:id="rId3"/>
    <p:sldId id="934" r:id="rId4"/>
    <p:sldId id="920" r:id="rId5"/>
    <p:sldId id="922" r:id="rId6"/>
    <p:sldId id="923" r:id="rId7"/>
    <p:sldId id="925" r:id="rId8"/>
    <p:sldId id="927" r:id="rId9"/>
    <p:sldId id="929" r:id="rId10"/>
    <p:sldId id="935" r:id="rId11"/>
    <p:sldId id="930" r:id="rId12"/>
    <p:sldId id="936" r:id="rId13"/>
    <p:sldId id="937" r:id="rId14"/>
    <p:sldId id="938" r:id="rId15"/>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695" autoAdjust="0"/>
    <p:restoredTop sz="92542" autoAdjust="0"/>
  </p:normalViewPr>
  <p:slideViewPr>
    <p:cSldViewPr snapToGrid="0">
      <p:cViewPr varScale="1">
        <p:scale>
          <a:sx n="64" d="100"/>
          <a:sy n="64" d="100"/>
        </p:scale>
        <p:origin x="120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FF7B-7876-476D-9817-44EEECDE7C77}"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1DFC35-57B6-4606-A2D9-F0222A5C8A74}" type="slidenum">
              <a:rPr lang="en-IN" smtClean="0"/>
              <a:t>‹#›</a:t>
            </a:fld>
            <a:endParaRPr lang="en-IN"/>
          </a:p>
        </p:txBody>
      </p:sp>
    </p:spTree>
    <p:extLst>
      <p:ext uri="{BB962C8B-B14F-4D97-AF65-F5344CB8AC3E}">
        <p14:creationId xmlns:p14="http://schemas.microsoft.com/office/powerpoint/2010/main" val="3923597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01DFC35-57B6-4606-A2D9-F0222A5C8A74}" type="slidenum">
              <a:rPr lang="en-IN" smtClean="0"/>
              <a:t>1</a:t>
            </a:fld>
            <a:endParaRPr lang="en-IN"/>
          </a:p>
        </p:txBody>
      </p:sp>
    </p:spTree>
    <p:extLst>
      <p:ext uri="{BB962C8B-B14F-4D97-AF65-F5344CB8AC3E}">
        <p14:creationId xmlns:p14="http://schemas.microsoft.com/office/powerpoint/2010/main" val="251762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1DFC35-57B6-4606-A2D9-F0222A5C8A74}" type="slidenum">
              <a:rPr lang="en-IN" smtClean="0"/>
              <a:t>5</a:t>
            </a:fld>
            <a:endParaRPr lang="en-IN"/>
          </a:p>
        </p:txBody>
      </p:sp>
    </p:spTree>
    <p:extLst>
      <p:ext uri="{BB962C8B-B14F-4D97-AF65-F5344CB8AC3E}">
        <p14:creationId xmlns:p14="http://schemas.microsoft.com/office/powerpoint/2010/main" val="854341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7" name="Title 6"/>
          <p:cNvSpPr>
            <a:spLocks noGrp="1"/>
          </p:cNvSpPr>
          <p:nvPr>
            <p:ph type="title"/>
          </p:nvPr>
        </p:nvSpPr>
        <p:spPr/>
        <p:txBody>
          <a:bodyPr/>
          <a:lstStyle/>
          <a:p>
            <a:r>
              <a:rPr lang="en-US"/>
              <a:t>Click to edit Master title style</a:t>
            </a:r>
            <a:endParaRPr lang="en-IN"/>
          </a:p>
        </p:txBody>
      </p:sp>
      <p:sp>
        <p:nvSpPr>
          <p:cNvPr id="2" name="Date Placeholder 3">
            <a:extLst>
              <a:ext uri="{FF2B5EF4-FFF2-40B4-BE49-F238E27FC236}">
                <a16:creationId xmlns:a16="http://schemas.microsoft.com/office/drawing/2014/main" id="{D979A335-BFB9-AAF4-8BAA-F6AA4FD1DDC2}"/>
              </a:ext>
            </a:extLst>
          </p:cNvPr>
          <p:cNvSpPr>
            <a:spLocks noGrp="1"/>
          </p:cNvSpPr>
          <p:nvPr>
            <p:ph type="dt" sz="half" idx="10"/>
          </p:nvPr>
        </p:nvSpPr>
        <p:spPr/>
        <p:txBody>
          <a:bodyPr/>
          <a:lstStyle>
            <a:lvl1pPr>
              <a:defRPr/>
            </a:lvl1pPr>
          </a:lstStyle>
          <a:p>
            <a:fld id="{689FF23B-171D-471C-BD36-2D0F3A67807C}" type="datetime1">
              <a:rPr lang="en-IN" smtClean="0"/>
              <a:t>13-03-2026</a:t>
            </a:fld>
            <a:endParaRPr lang="en-IN"/>
          </a:p>
        </p:txBody>
      </p:sp>
      <p:sp>
        <p:nvSpPr>
          <p:cNvPr id="4" name="Footer Placeholder 4">
            <a:extLst>
              <a:ext uri="{FF2B5EF4-FFF2-40B4-BE49-F238E27FC236}">
                <a16:creationId xmlns:a16="http://schemas.microsoft.com/office/drawing/2014/main" id="{724E6499-99E1-5E0A-F4D8-0B5071E41E9E}"/>
              </a:ext>
            </a:extLst>
          </p:cNvPr>
          <p:cNvSpPr>
            <a:spLocks noGrp="1"/>
          </p:cNvSpPr>
          <p:nvPr>
            <p:ph type="ftr" sz="quarter" idx="11"/>
          </p:nvPr>
        </p:nvSpPr>
        <p:spPr/>
        <p:txBody>
          <a:bodyPr/>
          <a:lstStyle>
            <a:lvl1pPr>
              <a:defRPr/>
            </a:lvl1pPr>
          </a:lstStyle>
          <a:p>
            <a:endParaRPr lang="en-IN"/>
          </a:p>
        </p:txBody>
      </p:sp>
      <p:sp>
        <p:nvSpPr>
          <p:cNvPr id="5" name="Slide Number Placeholder 5">
            <a:extLst>
              <a:ext uri="{FF2B5EF4-FFF2-40B4-BE49-F238E27FC236}">
                <a16:creationId xmlns:a16="http://schemas.microsoft.com/office/drawing/2014/main" id="{F4675483-2FD4-D24E-DADC-E63111D5D075}"/>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90745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D242E6-CFCB-473D-8DE4-DBEBF5C17537}"/>
              </a:ext>
            </a:extLst>
          </p:cNvPr>
          <p:cNvSpPr>
            <a:spLocks noGrp="1"/>
          </p:cNvSpPr>
          <p:nvPr>
            <p:ph type="dt" sz="half" idx="10"/>
          </p:nvPr>
        </p:nvSpPr>
        <p:spPr/>
        <p:txBody>
          <a:bodyPr/>
          <a:lstStyle>
            <a:lvl1pPr>
              <a:defRPr/>
            </a:lvl1pPr>
          </a:lstStyle>
          <a:p>
            <a:fld id="{1FC64AC5-3894-4FBB-8975-13EB1DB8DC29}" type="datetime1">
              <a:rPr lang="en-IN" smtClean="0"/>
              <a:t>13-03-2026</a:t>
            </a:fld>
            <a:endParaRPr lang="en-IN"/>
          </a:p>
        </p:txBody>
      </p:sp>
      <p:sp>
        <p:nvSpPr>
          <p:cNvPr id="5" name="Footer Placeholder 4">
            <a:extLst>
              <a:ext uri="{FF2B5EF4-FFF2-40B4-BE49-F238E27FC236}">
                <a16:creationId xmlns:a16="http://schemas.microsoft.com/office/drawing/2014/main" id="{6B3B7CD5-2550-DB8D-26F8-027AF7E19059}"/>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D7D6C51F-13A2-B94E-0452-050561AA0151}"/>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261797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855CF0-ABD6-66F1-67F5-836326ABE091}"/>
              </a:ext>
            </a:extLst>
          </p:cNvPr>
          <p:cNvSpPr>
            <a:spLocks noGrp="1"/>
          </p:cNvSpPr>
          <p:nvPr>
            <p:ph type="dt" sz="half" idx="10"/>
          </p:nvPr>
        </p:nvSpPr>
        <p:spPr/>
        <p:txBody>
          <a:bodyPr/>
          <a:lstStyle>
            <a:lvl1pPr>
              <a:defRPr/>
            </a:lvl1pPr>
          </a:lstStyle>
          <a:p>
            <a:fld id="{08C1E13E-385D-4576-A100-69A004E17DA6}" type="datetime1">
              <a:rPr lang="en-IN" smtClean="0"/>
              <a:t>13-03-2026</a:t>
            </a:fld>
            <a:endParaRPr lang="en-IN"/>
          </a:p>
        </p:txBody>
      </p:sp>
      <p:sp>
        <p:nvSpPr>
          <p:cNvPr id="5" name="Footer Placeholder 4">
            <a:extLst>
              <a:ext uri="{FF2B5EF4-FFF2-40B4-BE49-F238E27FC236}">
                <a16:creationId xmlns:a16="http://schemas.microsoft.com/office/drawing/2014/main" id="{B80945ED-DEA5-AD26-0679-3CCE60586D0B}"/>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D362C1ED-31B6-07E2-4040-23F46BA659DE}"/>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2223027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4FF1E6-C3FD-8DC1-9688-6478CAF8464C}"/>
              </a:ext>
            </a:extLst>
          </p:cNvPr>
          <p:cNvSpPr>
            <a:spLocks noGrp="1"/>
          </p:cNvSpPr>
          <p:nvPr>
            <p:ph type="dt" sz="half" idx="10"/>
          </p:nvPr>
        </p:nvSpPr>
        <p:spPr/>
        <p:txBody>
          <a:bodyPr/>
          <a:lstStyle>
            <a:lvl1pPr>
              <a:defRPr/>
            </a:lvl1pPr>
          </a:lstStyle>
          <a:p>
            <a:fld id="{B4AA223D-2542-4258-9E8D-7AA5AD35F6CD}" type="datetime1">
              <a:rPr lang="en-IN" smtClean="0"/>
              <a:t>13-03-2026</a:t>
            </a:fld>
            <a:endParaRPr lang="en-IN"/>
          </a:p>
        </p:txBody>
      </p:sp>
      <p:sp>
        <p:nvSpPr>
          <p:cNvPr id="6" name="Footer Placeholder 5">
            <a:extLst>
              <a:ext uri="{FF2B5EF4-FFF2-40B4-BE49-F238E27FC236}">
                <a16:creationId xmlns:a16="http://schemas.microsoft.com/office/drawing/2014/main" id="{0C9A91A9-C2A8-B8FC-7EDD-9663FD0B181D}"/>
              </a:ext>
            </a:extLst>
          </p:cNvPr>
          <p:cNvSpPr>
            <a:spLocks noGrp="1"/>
          </p:cNvSpPr>
          <p:nvPr>
            <p:ph type="ftr" sz="quarter" idx="11"/>
          </p:nvPr>
        </p:nvSpPr>
        <p:spPr/>
        <p:txBody>
          <a:bodyPr/>
          <a:lstStyle>
            <a:lvl1pPr>
              <a:defRPr/>
            </a:lvl1pPr>
          </a:lstStyle>
          <a:p>
            <a:endParaRPr lang="en-IN"/>
          </a:p>
        </p:txBody>
      </p:sp>
      <p:sp>
        <p:nvSpPr>
          <p:cNvPr id="7" name="Slide Number Placeholder 6">
            <a:extLst>
              <a:ext uri="{FF2B5EF4-FFF2-40B4-BE49-F238E27FC236}">
                <a16:creationId xmlns:a16="http://schemas.microsoft.com/office/drawing/2014/main" id="{CBFE2D58-A2BD-6749-279B-7D28B387D1CF}"/>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441987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866776"/>
            <a:ext cx="10515600" cy="823912"/>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3A1B3C8-B474-4F6E-6BB3-FA075D69C204}"/>
              </a:ext>
            </a:extLst>
          </p:cNvPr>
          <p:cNvSpPr>
            <a:spLocks noGrp="1"/>
          </p:cNvSpPr>
          <p:nvPr>
            <p:ph type="dt" sz="half" idx="10"/>
          </p:nvPr>
        </p:nvSpPr>
        <p:spPr/>
        <p:txBody>
          <a:bodyPr/>
          <a:lstStyle>
            <a:lvl1pPr>
              <a:defRPr/>
            </a:lvl1pPr>
          </a:lstStyle>
          <a:p>
            <a:fld id="{99E55CD5-F841-4E64-889C-5E5E14345BD0}" type="datetime1">
              <a:rPr lang="en-IN" smtClean="0"/>
              <a:t>13-03-2026</a:t>
            </a:fld>
            <a:endParaRPr lang="en-IN"/>
          </a:p>
        </p:txBody>
      </p:sp>
      <p:sp>
        <p:nvSpPr>
          <p:cNvPr id="8" name="Footer Placeholder 7">
            <a:extLst>
              <a:ext uri="{FF2B5EF4-FFF2-40B4-BE49-F238E27FC236}">
                <a16:creationId xmlns:a16="http://schemas.microsoft.com/office/drawing/2014/main" id="{F49A921A-9EC6-0DF2-79F5-6F853204D0A0}"/>
              </a:ext>
            </a:extLst>
          </p:cNvPr>
          <p:cNvSpPr>
            <a:spLocks noGrp="1"/>
          </p:cNvSpPr>
          <p:nvPr>
            <p:ph type="ftr" sz="quarter" idx="11"/>
          </p:nvPr>
        </p:nvSpPr>
        <p:spPr/>
        <p:txBody>
          <a:bodyPr/>
          <a:lstStyle>
            <a:lvl1pPr>
              <a:defRPr/>
            </a:lvl1pPr>
          </a:lstStyle>
          <a:p>
            <a:endParaRPr lang="en-IN"/>
          </a:p>
        </p:txBody>
      </p:sp>
      <p:sp>
        <p:nvSpPr>
          <p:cNvPr id="9" name="Slide Number Placeholder 8">
            <a:extLst>
              <a:ext uri="{FF2B5EF4-FFF2-40B4-BE49-F238E27FC236}">
                <a16:creationId xmlns:a16="http://schemas.microsoft.com/office/drawing/2014/main" id="{EAC36F6D-C327-9C66-1C8D-D7352B06E70F}"/>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568127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3F204F-0527-F359-E020-C43A7A1EFDB5}"/>
              </a:ext>
            </a:extLst>
          </p:cNvPr>
          <p:cNvSpPr>
            <a:spLocks noGrp="1"/>
          </p:cNvSpPr>
          <p:nvPr>
            <p:ph type="dt" sz="half" idx="10"/>
          </p:nvPr>
        </p:nvSpPr>
        <p:spPr/>
        <p:txBody>
          <a:bodyPr/>
          <a:lstStyle>
            <a:lvl1pPr>
              <a:defRPr/>
            </a:lvl1pPr>
          </a:lstStyle>
          <a:p>
            <a:fld id="{D8EDD59E-1B5D-4786-A960-698D3B3A987B}" type="datetime1">
              <a:rPr lang="en-IN" smtClean="0"/>
              <a:t>13-03-2026</a:t>
            </a:fld>
            <a:endParaRPr lang="en-IN"/>
          </a:p>
        </p:txBody>
      </p:sp>
      <p:sp>
        <p:nvSpPr>
          <p:cNvPr id="4" name="Footer Placeholder 3">
            <a:extLst>
              <a:ext uri="{FF2B5EF4-FFF2-40B4-BE49-F238E27FC236}">
                <a16:creationId xmlns:a16="http://schemas.microsoft.com/office/drawing/2014/main" id="{1D6F5C84-7D85-6B3B-4A48-36E85A4C5742}"/>
              </a:ext>
            </a:extLst>
          </p:cNvPr>
          <p:cNvSpPr>
            <a:spLocks noGrp="1"/>
          </p:cNvSpPr>
          <p:nvPr>
            <p:ph type="ftr" sz="quarter" idx="11"/>
          </p:nvPr>
        </p:nvSpPr>
        <p:spPr/>
        <p:txBody>
          <a:bodyPr/>
          <a:lstStyle>
            <a:lvl1pPr>
              <a:defRPr/>
            </a:lvl1pPr>
          </a:lstStyle>
          <a:p>
            <a:endParaRPr lang="en-IN"/>
          </a:p>
        </p:txBody>
      </p:sp>
      <p:sp>
        <p:nvSpPr>
          <p:cNvPr id="5" name="Slide Number Placeholder 4">
            <a:extLst>
              <a:ext uri="{FF2B5EF4-FFF2-40B4-BE49-F238E27FC236}">
                <a16:creationId xmlns:a16="http://schemas.microsoft.com/office/drawing/2014/main" id="{E4A28A42-FE07-DE2E-EBAE-42B1BB1F7E84}"/>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627010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AF3302-8D61-C056-96BB-694507EF5CBD}"/>
              </a:ext>
            </a:extLst>
          </p:cNvPr>
          <p:cNvSpPr>
            <a:spLocks noGrp="1"/>
          </p:cNvSpPr>
          <p:nvPr>
            <p:ph type="dt" sz="half" idx="10"/>
          </p:nvPr>
        </p:nvSpPr>
        <p:spPr/>
        <p:txBody>
          <a:bodyPr/>
          <a:lstStyle>
            <a:lvl1pPr>
              <a:defRPr/>
            </a:lvl1pPr>
          </a:lstStyle>
          <a:p>
            <a:fld id="{9A72AF16-0324-4CB5-BF94-93F7E9EFF89A}" type="datetime1">
              <a:rPr lang="en-IN" smtClean="0"/>
              <a:t>13-03-2026</a:t>
            </a:fld>
            <a:endParaRPr lang="en-IN"/>
          </a:p>
        </p:txBody>
      </p:sp>
      <p:sp>
        <p:nvSpPr>
          <p:cNvPr id="3" name="Footer Placeholder 2">
            <a:extLst>
              <a:ext uri="{FF2B5EF4-FFF2-40B4-BE49-F238E27FC236}">
                <a16:creationId xmlns:a16="http://schemas.microsoft.com/office/drawing/2014/main" id="{D8943D02-CCC0-D13A-998C-CB44054C0B95}"/>
              </a:ext>
            </a:extLst>
          </p:cNvPr>
          <p:cNvSpPr>
            <a:spLocks noGrp="1"/>
          </p:cNvSpPr>
          <p:nvPr>
            <p:ph type="ftr" sz="quarter" idx="11"/>
          </p:nvPr>
        </p:nvSpPr>
        <p:spPr/>
        <p:txBody>
          <a:bodyPr/>
          <a:lstStyle>
            <a:lvl1pPr>
              <a:defRPr/>
            </a:lvl1pPr>
          </a:lstStyle>
          <a:p>
            <a:endParaRPr lang="en-IN"/>
          </a:p>
        </p:txBody>
      </p:sp>
      <p:sp>
        <p:nvSpPr>
          <p:cNvPr id="4" name="Slide Number Placeholder 3">
            <a:extLst>
              <a:ext uri="{FF2B5EF4-FFF2-40B4-BE49-F238E27FC236}">
                <a16:creationId xmlns:a16="http://schemas.microsoft.com/office/drawing/2014/main" id="{237098C0-B884-165A-2694-973A56D86BA0}"/>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512527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5"/>
            <a:ext cx="3932237" cy="1069974"/>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FC1A566-EA49-2977-8317-6FB23668A89C}"/>
              </a:ext>
            </a:extLst>
          </p:cNvPr>
          <p:cNvSpPr>
            <a:spLocks noGrp="1"/>
          </p:cNvSpPr>
          <p:nvPr>
            <p:ph type="dt" sz="half" idx="10"/>
          </p:nvPr>
        </p:nvSpPr>
        <p:spPr/>
        <p:txBody>
          <a:bodyPr/>
          <a:lstStyle>
            <a:lvl1pPr>
              <a:defRPr/>
            </a:lvl1pPr>
          </a:lstStyle>
          <a:p>
            <a:fld id="{CB57C84E-F0B9-4ADC-986F-1DB115FD93B9}" type="datetime1">
              <a:rPr lang="en-IN" smtClean="0"/>
              <a:t>13-03-2026</a:t>
            </a:fld>
            <a:endParaRPr lang="en-IN"/>
          </a:p>
        </p:txBody>
      </p:sp>
      <p:sp>
        <p:nvSpPr>
          <p:cNvPr id="6" name="Footer Placeholder 5">
            <a:extLst>
              <a:ext uri="{FF2B5EF4-FFF2-40B4-BE49-F238E27FC236}">
                <a16:creationId xmlns:a16="http://schemas.microsoft.com/office/drawing/2014/main" id="{527BDFB9-862F-16D1-7A43-6B67A6BA9F6B}"/>
              </a:ext>
            </a:extLst>
          </p:cNvPr>
          <p:cNvSpPr>
            <a:spLocks noGrp="1"/>
          </p:cNvSpPr>
          <p:nvPr>
            <p:ph type="ftr" sz="quarter" idx="11"/>
          </p:nvPr>
        </p:nvSpPr>
        <p:spPr/>
        <p:txBody>
          <a:bodyPr/>
          <a:lstStyle>
            <a:lvl1pPr>
              <a:defRPr/>
            </a:lvl1pPr>
          </a:lstStyle>
          <a:p>
            <a:endParaRPr lang="en-IN"/>
          </a:p>
        </p:txBody>
      </p:sp>
      <p:sp>
        <p:nvSpPr>
          <p:cNvPr id="7" name="Slide Number Placeholder 6">
            <a:extLst>
              <a:ext uri="{FF2B5EF4-FFF2-40B4-BE49-F238E27FC236}">
                <a16:creationId xmlns:a16="http://schemas.microsoft.com/office/drawing/2014/main" id="{8D3EEF3A-C8B2-956C-D15D-86434F200ED0}"/>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3373265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6"/>
            <a:ext cx="3932237" cy="1069975"/>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FCBCC3F-66AE-D685-917C-BCE23EBFE6CD}"/>
              </a:ext>
            </a:extLst>
          </p:cNvPr>
          <p:cNvSpPr>
            <a:spLocks noGrp="1"/>
          </p:cNvSpPr>
          <p:nvPr>
            <p:ph type="dt" sz="half" idx="10"/>
          </p:nvPr>
        </p:nvSpPr>
        <p:spPr/>
        <p:txBody>
          <a:bodyPr/>
          <a:lstStyle>
            <a:lvl1pPr>
              <a:defRPr/>
            </a:lvl1pPr>
          </a:lstStyle>
          <a:p>
            <a:fld id="{EF7FFE89-EA5A-4C24-95E7-6963E505006B}" type="datetime1">
              <a:rPr lang="en-IN" smtClean="0"/>
              <a:t>13-03-2026</a:t>
            </a:fld>
            <a:endParaRPr lang="en-IN"/>
          </a:p>
        </p:txBody>
      </p:sp>
      <p:sp>
        <p:nvSpPr>
          <p:cNvPr id="6" name="Footer Placeholder 5">
            <a:extLst>
              <a:ext uri="{FF2B5EF4-FFF2-40B4-BE49-F238E27FC236}">
                <a16:creationId xmlns:a16="http://schemas.microsoft.com/office/drawing/2014/main" id="{3EF1C573-3CAA-6017-0BFA-B1CAB9048170}"/>
              </a:ext>
            </a:extLst>
          </p:cNvPr>
          <p:cNvSpPr>
            <a:spLocks noGrp="1"/>
          </p:cNvSpPr>
          <p:nvPr>
            <p:ph type="ftr" sz="quarter" idx="11"/>
          </p:nvPr>
        </p:nvSpPr>
        <p:spPr/>
        <p:txBody>
          <a:bodyPr/>
          <a:lstStyle>
            <a:lvl1pPr>
              <a:defRPr/>
            </a:lvl1pPr>
          </a:lstStyle>
          <a:p>
            <a:endParaRPr lang="en-IN"/>
          </a:p>
        </p:txBody>
      </p:sp>
      <p:sp>
        <p:nvSpPr>
          <p:cNvPr id="7" name="Slide Number Placeholder 6">
            <a:extLst>
              <a:ext uri="{FF2B5EF4-FFF2-40B4-BE49-F238E27FC236}">
                <a16:creationId xmlns:a16="http://schemas.microsoft.com/office/drawing/2014/main" id="{1F416E67-65BF-8531-9B7F-D0AB1116C885}"/>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404159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287074-245E-87F5-DFC8-F77FA4B66C09}"/>
              </a:ext>
            </a:extLst>
          </p:cNvPr>
          <p:cNvSpPr>
            <a:spLocks noGrp="1"/>
          </p:cNvSpPr>
          <p:nvPr>
            <p:ph type="dt" sz="half" idx="10"/>
          </p:nvPr>
        </p:nvSpPr>
        <p:spPr/>
        <p:txBody>
          <a:bodyPr/>
          <a:lstStyle>
            <a:lvl1pPr>
              <a:defRPr/>
            </a:lvl1pPr>
          </a:lstStyle>
          <a:p>
            <a:fld id="{107C52A0-4C51-420B-BF57-FAF0CD0E6621}" type="datetime1">
              <a:rPr lang="en-IN" smtClean="0"/>
              <a:t>13-03-2026</a:t>
            </a:fld>
            <a:endParaRPr lang="en-IN"/>
          </a:p>
        </p:txBody>
      </p:sp>
      <p:sp>
        <p:nvSpPr>
          <p:cNvPr id="5" name="Footer Placeholder 4">
            <a:extLst>
              <a:ext uri="{FF2B5EF4-FFF2-40B4-BE49-F238E27FC236}">
                <a16:creationId xmlns:a16="http://schemas.microsoft.com/office/drawing/2014/main" id="{21267015-6888-E53F-F21D-DC01C60BBFC1}"/>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211566B7-60AE-81B8-5DE4-D6BFD289C851}"/>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25018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34291"/>
            <a:ext cx="2628900" cy="5442672"/>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734291"/>
            <a:ext cx="7734300" cy="544267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CEEC42-DA93-168A-2B53-EF25A3731A49}"/>
              </a:ext>
            </a:extLst>
          </p:cNvPr>
          <p:cNvSpPr>
            <a:spLocks noGrp="1"/>
          </p:cNvSpPr>
          <p:nvPr>
            <p:ph type="dt" sz="half" idx="10"/>
          </p:nvPr>
        </p:nvSpPr>
        <p:spPr/>
        <p:txBody>
          <a:bodyPr/>
          <a:lstStyle>
            <a:lvl1pPr>
              <a:defRPr/>
            </a:lvl1pPr>
          </a:lstStyle>
          <a:p>
            <a:fld id="{4F72F860-3138-4D6D-8E16-7172FEACE899}" type="datetime1">
              <a:rPr lang="en-IN" smtClean="0"/>
              <a:t>13-03-2026</a:t>
            </a:fld>
            <a:endParaRPr lang="en-IN"/>
          </a:p>
        </p:txBody>
      </p:sp>
      <p:sp>
        <p:nvSpPr>
          <p:cNvPr id="5" name="Footer Placeholder 4">
            <a:extLst>
              <a:ext uri="{FF2B5EF4-FFF2-40B4-BE49-F238E27FC236}">
                <a16:creationId xmlns:a16="http://schemas.microsoft.com/office/drawing/2014/main" id="{7ACAB2B8-EC58-8D37-46A2-4312FBD9C99D}"/>
              </a:ext>
            </a:extLst>
          </p:cNvPr>
          <p:cNvSpPr>
            <a:spLocks noGrp="1"/>
          </p:cNvSpPr>
          <p:nvPr>
            <p:ph type="ftr" sz="quarter" idx="11"/>
          </p:nvPr>
        </p:nvSpPr>
        <p:spPr/>
        <p:txBody>
          <a:bodyPr/>
          <a:lstStyle>
            <a:lvl1pPr>
              <a:defRPr/>
            </a:lvl1pPr>
          </a:lstStyle>
          <a:p>
            <a:endParaRPr lang="en-IN"/>
          </a:p>
        </p:txBody>
      </p:sp>
      <p:sp>
        <p:nvSpPr>
          <p:cNvPr id="6" name="Slide Number Placeholder 5">
            <a:extLst>
              <a:ext uri="{FF2B5EF4-FFF2-40B4-BE49-F238E27FC236}">
                <a16:creationId xmlns:a16="http://schemas.microsoft.com/office/drawing/2014/main" id="{D490C8FE-9ACC-AEDE-88A1-C2C2CA5C850D}"/>
              </a:ext>
            </a:extLst>
          </p:cNvPr>
          <p:cNvSpPr>
            <a:spLocks noGrp="1"/>
          </p:cNvSpPr>
          <p:nvPr>
            <p:ph type="sldNum" sz="quarter" idx="12"/>
          </p:nvPr>
        </p:nvSpPr>
        <p:spPr/>
        <p:txBody>
          <a:bodyPr/>
          <a:lstStyle>
            <a:lvl1pPr>
              <a:defRPr/>
            </a:lvl1pPr>
          </a:lstStyle>
          <a:p>
            <a:fld id="{095B67F8-3864-425A-A4D9-E2BC08C4F04D}" type="slidenum">
              <a:rPr lang="en-IN" smtClean="0"/>
              <a:t>‹#›</a:t>
            </a:fld>
            <a:endParaRPr lang="en-IN"/>
          </a:p>
        </p:txBody>
      </p:sp>
    </p:spTree>
    <p:extLst>
      <p:ext uri="{BB962C8B-B14F-4D97-AF65-F5344CB8AC3E}">
        <p14:creationId xmlns:p14="http://schemas.microsoft.com/office/powerpoint/2010/main" val="1778603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8792EE-EA1B-511C-9257-0EAF452244CA}"/>
              </a:ext>
            </a:extLst>
          </p:cNvPr>
          <p:cNvSpPr>
            <a:spLocks noGrp="1" noChangeArrowheads="1"/>
          </p:cNvSpPr>
          <p:nvPr>
            <p:ph type="title"/>
          </p:nvPr>
        </p:nvSpPr>
        <p:spPr bwMode="auto">
          <a:xfrm>
            <a:off x="838200" y="812800"/>
            <a:ext cx="105156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C697C5F7-0279-4B15-1CB7-D1A483C70813}"/>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85CCFADE-5B20-75C0-424F-0F2AFB6DF464}"/>
              </a:ext>
            </a:extLst>
          </p:cNvPr>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900">
                <a:solidFill>
                  <a:srgbClr val="898989"/>
                </a:solidFill>
                <a:latin typeface="Times New Roman" panose="02020603050405020304" pitchFamily="18" charset="0"/>
              </a:defRPr>
            </a:lvl1pPr>
          </a:lstStyle>
          <a:p>
            <a:fld id="{E0F2942C-538E-49F4-BC5F-AB443059ECD1}" type="datetime1">
              <a:rPr lang="en-IN" smtClean="0"/>
              <a:t>13-03-2026</a:t>
            </a:fld>
            <a:endParaRPr lang="en-IN"/>
          </a:p>
        </p:txBody>
      </p:sp>
      <p:sp>
        <p:nvSpPr>
          <p:cNvPr id="5" name="Footer Placeholder 4">
            <a:extLst>
              <a:ext uri="{FF2B5EF4-FFF2-40B4-BE49-F238E27FC236}">
                <a16:creationId xmlns:a16="http://schemas.microsoft.com/office/drawing/2014/main" id="{3BDAFD65-0BAE-358D-C0AE-A5DD4E0191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endParaRPr lang="en-IN"/>
          </a:p>
        </p:txBody>
      </p:sp>
      <p:sp>
        <p:nvSpPr>
          <p:cNvPr id="6" name="Slide Number Placeholder 5">
            <a:extLst>
              <a:ext uri="{FF2B5EF4-FFF2-40B4-BE49-F238E27FC236}">
                <a16:creationId xmlns:a16="http://schemas.microsoft.com/office/drawing/2014/main" id="{E9BA6229-5562-F65D-A0BA-E4ABF542A433}"/>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fld id="{095B67F8-3864-425A-A4D9-E2BC08C4F04D}" type="slidenum">
              <a:rPr lang="en-IN" smtClean="0"/>
              <a:t>‹#›</a:t>
            </a:fld>
            <a:endParaRPr lang="en-IN"/>
          </a:p>
        </p:txBody>
      </p:sp>
      <p:pic>
        <p:nvPicPr>
          <p:cNvPr id="1031" name="Picture 6">
            <a:extLst>
              <a:ext uri="{FF2B5EF4-FFF2-40B4-BE49-F238E27FC236}">
                <a16:creationId xmlns:a16="http://schemas.microsoft.com/office/drawing/2014/main" id="{AF28A348-F62E-1D25-462F-F2D80714B58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413" y="136525"/>
            <a:ext cx="1800225"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7">
            <a:extLst>
              <a:ext uri="{FF2B5EF4-FFF2-40B4-BE49-F238E27FC236}">
                <a16:creationId xmlns:a16="http://schemas.microsoft.com/office/drawing/2014/main" id="{2185E301-5D10-BC61-9226-34AFFC72B1A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l="8813" t="24036" r="8813" b="24036"/>
          <a:stretch>
            <a:fillRect/>
          </a:stretch>
        </p:blipFill>
        <p:spPr bwMode="auto">
          <a:xfrm>
            <a:off x="10541000" y="44450"/>
            <a:ext cx="16256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31393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fontAlgn="base" hangingPunct="1">
        <a:lnSpc>
          <a:spcPct val="90000"/>
        </a:lnSpc>
        <a:spcBef>
          <a:spcPct val="0"/>
        </a:spcBef>
        <a:spcAft>
          <a:spcPct val="0"/>
        </a:spcAft>
        <a:defRPr sz="3300" kern="1200">
          <a:solidFill>
            <a:schemeClr val="tx1"/>
          </a:solidFill>
          <a:latin typeface="+mj-lt"/>
          <a:ea typeface="+mj-ea"/>
          <a:cs typeface="+mj-cs"/>
        </a:defRPr>
      </a:lvl1pPr>
      <a:lvl2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2pPr>
      <a:lvl3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3pPr>
      <a:lvl4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4pPr>
      <a:lvl5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5pPr>
      <a:lvl6pPr marL="4572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1" fontAlgn="base" hangingPunct="1">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fontAlgn="base" hangingPunct="1">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fontAlgn="base" hangingPunct="1">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fontAlgn="base" hangingPunct="1">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1" fontAlgn="base" hangingPunct="1">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ourworldindata.or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sciencedirect.com/science/article/abs/pii/S0029801825024357?utm_source=chatgpt.com" TargetMode="External"/><Relationship Id="rId2" Type="http://schemas.openxmlformats.org/officeDocument/2006/relationships/hyperlink" Target="https://www.sciencedirect.com/science/article/pii/S2590005625002668?utm_source=chatgpt.com" TargetMode="External"/><Relationship Id="rId1" Type="http://schemas.openxmlformats.org/officeDocument/2006/relationships/slideLayout" Target="../slideLayouts/slideLayout2.xml"/><Relationship Id="rId6" Type="http://schemas.openxmlformats.org/officeDocument/2006/relationships/hyperlink" Target="https://arxiv.org/abs/2302.01152?utm_source=chatgpt.com" TargetMode="External"/><Relationship Id="rId5" Type="http://schemas.openxmlformats.org/officeDocument/2006/relationships/hyperlink" Target="https://link.springer.com/article/10.1186/s40068-025-00407-5?utm_source=chatgpt.com" TargetMode="External"/><Relationship Id="rId4" Type="http://schemas.openxmlformats.org/officeDocument/2006/relationships/hyperlink" Target="https://www.sbt-durabi.org/articles/xml/bYw7/?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5DB5A7F-D498-1C36-5D2B-EB9D5D943F89}"/>
              </a:ext>
            </a:extLst>
          </p:cNvPr>
          <p:cNvSpPr txBox="1">
            <a:spLocks/>
          </p:cNvSpPr>
          <p:nvPr/>
        </p:nvSpPr>
        <p:spPr bwMode="auto">
          <a:xfrm>
            <a:off x="386726" y="391232"/>
            <a:ext cx="11540971" cy="1528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defTabSz="685800" rtl="0" eaLnBrk="1" fontAlgn="base" hangingPunct="1">
              <a:lnSpc>
                <a:spcPct val="90000"/>
              </a:lnSpc>
              <a:spcBef>
                <a:spcPct val="0"/>
              </a:spcBef>
              <a:spcAft>
                <a:spcPct val="0"/>
              </a:spcAft>
              <a:defRPr sz="3300" kern="1200">
                <a:solidFill>
                  <a:schemeClr val="tx1"/>
                </a:solidFill>
                <a:latin typeface="+mj-lt"/>
                <a:ea typeface="+mj-ea"/>
                <a:cs typeface="+mj-cs"/>
              </a:defRPr>
            </a:lvl1pPr>
            <a:lvl2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2pPr>
            <a:lvl3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3pPr>
            <a:lvl4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4pPr>
            <a:lvl5pPr algn="l" defTabSz="685800" rtl="0" eaLnBrk="1" fontAlgn="base" hangingPunct="1">
              <a:lnSpc>
                <a:spcPct val="90000"/>
              </a:lnSpc>
              <a:spcBef>
                <a:spcPct val="0"/>
              </a:spcBef>
              <a:spcAft>
                <a:spcPct val="0"/>
              </a:spcAft>
              <a:defRPr sz="3300">
                <a:solidFill>
                  <a:schemeClr val="tx1"/>
                </a:solidFill>
                <a:latin typeface="Times New Roman" panose="02020603050405020304" pitchFamily="18" charset="0"/>
              </a:defRPr>
            </a:lvl5pPr>
            <a:lvl6pPr marL="4572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9pPr>
          </a:lstStyle>
          <a:p>
            <a:pPr algn="ctr"/>
            <a:r>
              <a:rPr lang="en-US" dirty="0">
                <a:latin typeface="Apple Braille" pitchFamily="2" charset="0"/>
              </a:rPr>
              <a:t>Personalized Carbon Footprint Prediction </a:t>
            </a:r>
          </a:p>
          <a:p>
            <a:pPr algn="ctr"/>
            <a:r>
              <a:rPr lang="en-US" dirty="0">
                <a:latin typeface="Apple Braille" pitchFamily="2" charset="0"/>
              </a:rPr>
              <a:t>and Sustainability Optimization</a:t>
            </a:r>
          </a:p>
        </p:txBody>
      </p:sp>
      <p:sp>
        <p:nvSpPr>
          <p:cNvPr id="8" name="Subtitle 2">
            <a:extLst>
              <a:ext uri="{FF2B5EF4-FFF2-40B4-BE49-F238E27FC236}">
                <a16:creationId xmlns:a16="http://schemas.microsoft.com/office/drawing/2014/main" id="{63F242B4-ABBE-5A59-6061-6EBEA0793467}"/>
              </a:ext>
            </a:extLst>
          </p:cNvPr>
          <p:cNvSpPr>
            <a:spLocks noGrp="1"/>
          </p:cNvSpPr>
          <p:nvPr>
            <p:ph type="subTitle" idx="1"/>
          </p:nvPr>
        </p:nvSpPr>
        <p:spPr>
          <a:xfrm>
            <a:off x="264303" y="4355168"/>
            <a:ext cx="6119733" cy="2143592"/>
          </a:xfrm>
        </p:spPr>
        <p:txBody>
          <a:bodyPr>
            <a:normAutofit/>
          </a:bodyPr>
          <a:lstStyle/>
          <a:p>
            <a:pPr algn="l"/>
            <a:r>
              <a:rPr lang="en-US" b="1" dirty="0">
                <a:latin typeface="Apple Braille" pitchFamily="2" charset="0"/>
              </a:rPr>
              <a:t>Prepared By:  </a:t>
            </a:r>
            <a:r>
              <a:rPr lang="en-US" dirty="0">
                <a:latin typeface="Apple Braille" pitchFamily="2" charset="0"/>
              </a:rPr>
              <a:t>(Yata Veera Shiva Reddy, Aparadapu Nithin, Mannem Ruthwik)</a:t>
            </a:r>
          </a:p>
          <a:p>
            <a:pPr algn="l"/>
            <a:r>
              <a:rPr lang="en-US" b="1" dirty="0">
                <a:latin typeface="Apple Braille" pitchFamily="2" charset="0"/>
              </a:rPr>
              <a:t>Reg. NO: </a:t>
            </a:r>
            <a:r>
              <a:rPr lang="en-US" dirty="0">
                <a:latin typeface="Apple Braille" pitchFamily="2" charset="0"/>
              </a:rPr>
              <a:t>12201954,12219603,12219937  </a:t>
            </a:r>
            <a:r>
              <a:rPr lang="en-US" b="1" dirty="0">
                <a:latin typeface="Apple Braille" pitchFamily="2" charset="0"/>
              </a:rPr>
              <a:t>ROLL No: </a:t>
            </a:r>
            <a:r>
              <a:rPr lang="en-US" dirty="0">
                <a:latin typeface="Apple Braille" pitchFamily="2" charset="0"/>
              </a:rPr>
              <a:t>09,33,44</a:t>
            </a:r>
          </a:p>
          <a:p>
            <a:pPr algn="l"/>
            <a:r>
              <a:rPr lang="en-US" b="1" dirty="0">
                <a:latin typeface="Apple Braille" pitchFamily="2" charset="0"/>
              </a:rPr>
              <a:t>Course Code :  </a:t>
            </a:r>
            <a:r>
              <a:rPr lang="en-US" dirty="0">
                <a:latin typeface="Apple Braille" pitchFamily="2" charset="0"/>
              </a:rPr>
              <a:t>CSE461</a:t>
            </a:r>
            <a:endParaRPr lang="en-IN" dirty="0">
              <a:latin typeface="Apple Braille" pitchFamily="2" charset="0"/>
            </a:endParaRPr>
          </a:p>
          <a:p>
            <a:endParaRPr lang="en-US" dirty="0"/>
          </a:p>
        </p:txBody>
      </p:sp>
      <p:sp>
        <p:nvSpPr>
          <p:cNvPr id="9" name="Subtitle 2">
            <a:extLst>
              <a:ext uri="{FF2B5EF4-FFF2-40B4-BE49-F238E27FC236}">
                <a16:creationId xmlns:a16="http://schemas.microsoft.com/office/drawing/2014/main" id="{41659EFB-C276-9685-8BB3-1C304A3FF6B3}"/>
              </a:ext>
            </a:extLst>
          </p:cNvPr>
          <p:cNvSpPr txBox="1">
            <a:spLocks/>
          </p:cNvSpPr>
          <p:nvPr/>
        </p:nvSpPr>
        <p:spPr>
          <a:xfrm>
            <a:off x="7370937" y="4519828"/>
            <a:ext cx="4556760" cy="20190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700" b="1" dirty="0">
                <a:latin typeface="Apple Braille" pitchFamily="2" charset="0"/>
              </a:rPr>
              <a:t>Submitted To:  (Mr. Aman Kumar)</a:t>
            </a:r>
            <a:endParaRPr lang="en-IN" sz="1700" dirty="0">
              <a:latin typeface="Apple Braille" pitchFamily="2" charset="0"/>
            </a:endParaRPr>
          </a:p>
          <a:p>
            <a:pPr algn="l"/>
            <a:r>
              <a:rPr lang="en-US" sz="1700" b="1" dirty="0">
                <a:latin typeface="Apple Braille" pitchFamily="2" charset="0"/>
              </a:rPr>
              <a:t>Dept: (CSE</a:t>
            </a:r>
            <a:r>
              <a:rPr lang="en-US" sz="1700" dirty="0">
                <a:latin typeface="Apple Braille" pitchFamily="2" charset="0"/>
              </a:rPr>
              <a:t>)</a:t>
            </a:r>
            <a:endParaRPr lang="en-IN" sz="1700" dirty="0">
              <a:latin typeface="Apple Braille" pitchFamily="2" charset="0"/>
            </a:endParaRPr>
          </a:p>
          <a:p>
            <a:pPr algn="l"/>
            <a:r>
              <a:rPr lang="en-US" sz="1700" b="1" dirty="0">
                <a:latin typeface="Apple Braille" pitchFamily="2" charset="0"/>
              </a:rPr>
              <a:t>University:  </a:t>
            </a:r>
            <a:r>
              <a:rPr lang="en-US" sz="1700" dirty="0">
                <a:latin typeface="Apple Braille" pitchFamily="2" charset="0"/>
              </a:rPr>
              <a:t>Lovely  Professional University Jalandhar Punjab India </a:t>
            </a:r>
            <a:endParaRPr lang="en-IN" sz="1700" dirty="0">
              <a:latin typeface="Apple Braille" pitchFamily="2" charset="0"/>
            </a:endParaRPr>
          </a:p>
          <a:p>
            <a:endParaRPr lang="en-US" dirty="0"/>
          </a:p>
        </p:txBody>
      </p:sp>
      <p:pic>
        <p:nvPicPr>
          <p:cNvPr id="10" name="Picture 4">
            <a:extLst>
              <a:ext uri="{FF2B5EF4-FFF2-40B4-BE49-F238E27FC236}">
                <a16:creationId xmlns:a16="http://schemas.microsoft.com/office/drawing/2014/main" id="{82C6722F-19A2-AA11-94EF-15D9F8334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1747" y="1788831"/>
            <a:ext cx="2825496" cy="2383774"/>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5">
            <a:extLst>
              <a:ext uri="{FF2B5EF4-FFF2-40B4-BE49-F238E27FC236}">
                <a16:creationId xmlns:a16="http://schemas.microsoft.com/office/drawing/2014/main" id="{479B8CAE-41A1-A49E-4E48-ADDEF9E93F31}"/>
              </a:ext>
            </a:extLst>
          </p:cNvPr>
          <p:cNvSpPr>
            <a:spLocks noGrp="1"/>
          </p:cNvSpPr>
          <p:nvPr>
            <p:ph type="sldNum" sz="quarter" idx="12"/>
          </p:nvPr>
        </p:nvSpPr>
        <p:spPr>
          <a:xfrm>
            <a:off x="8610600" y="6356350"/>
            <a:ext cx="2743200" cy="365125"/>
          </a:xfrm>
        </p:spPr>
        <p:txBody>
          <a:bodyPr/>
          <a:lstStyle/>
          <a:p>
            <a:fld id="{1CC10BE2-3C26-5745-BCC0-8E079BF8AF08}" type="slidenum">
              <a:rPr lang="en-US" smtClean="0"/>
              <a:t>1</a:t>
            </a:fld>
            <a:endParaRPr lang="en-US"/>
          </a:p>
        </p:txBody>
      </p:sp>
      <p:pic>
        <p:nvPicPr>
          <p:cNvPr id="1028" name="Picture 4" descr="Upgrad | Radeontech">
            <a:extLst>
              <a:ext uri="{FF2B5EF4-FFF2-40B4-BE49-F238E27FC236}">
                <a16:creationId xmlns:a16="http://schemas.microsoft.com/office/drawing/2014/main" id="{5BAB64BA-9EF4-2ED9-A323-9D2D420665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69" y="1347289"/>
            <a:ext cx="1781012" cy="15095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D7F3CC-8AAC-A679-CD7A-8614753FC07E}"/>
              </a:ext>
            </a:extLst>
          </p:cNvPr>
          <p:cNvSpPr>
            <a:spLocks noGrp="1"/>
          </p:cNvSpPr>
          <p:nvPr>
            <p:ph type="title"/>
          </p:nvPr>
        </p:nvSpPr>
        <p:spPr>
          <a:xfrm>
            <a:off x="225641" y="661108"/>
            <a:ext cx="10515600" cy="1325563"/>
          </a:xfrm>
        </p:spPr>
        <p:txBody>
          <a:bodyPr/>
          <a:lstStyle/>
          <a:p>
            <a:r>
              <a:rPr lang="en-US" dirty="0">
                <a:latin typeface="Apple Braille" pitchFamily="2" charset="0"/>
              </a:rPr>
              <a:t>Content of Presentation</a:t>
            </a:r>
          </a:p>
        </p:txBody>
      </p:sp>
      <p:sp>
        <p:nvSpPr>
          <p:cNvPr id="5" name="Content Placeholder 2">
            <a:extLst>
              <a:ext uri="{FF2B5EF4-FFF2-40B4-BE49-F238E27FC236}">
                <a16:creationId xmlns:a16="http://schemas.microsoft.com/office/drawing/2014/main" id="{DD162E08-F234-3249-D895-79831B2B1B59}"/>
              </a:ext>
            </a:extLst>
          </p:cNvPr>
          <p:cNvSpPr>
            <a:spLocks noGrp="1"/>
          </p:cNvSpPr>
          <p:nvPr>
            <p:ph idx="1"/>
          </p:nvPr>
        </p:nvSpPr>
        <p:spPr>
          <a:xfrm>
            <a:off x="296292" y="2139364"/>
            <a:ext cx="11599416" cy="4351338"/>
          </a:xfrm>
        </p:spPr>
        <p:txBody>
          <a:bodyPr/>
          <a:lstStyle/>
          <a:p>
            <a:r>
              <a:rPr lang="en-US" dirty="0">
                <a:latin typeface="Apple Braille" pitchFamily="2" charset="0"/>
              </a:rPr>
              <a:t>Introduction </a:t>
            </a:r>
          </a:p>
          <a:p>
            <a:r>
              <a:rPr lang="en-US" dirty="0">
                <a:latin typeface="Apple Braille" pitchFamily="2" charset="0"/>
              </a:rPr>
              <a:t>Literature survey &amp; Comparative Analysis</a:t>
            </a:r>
          </a:p>
          <a:p>
            <a:r>
              <a:rPr lang="en-US" dirty="0">
                <a:latin typeface="Apple Braille" pitchFamily="2" charset="0"/>
              </a:rPr>
              <a:t>Requirement Analysis</a:t>
            </a:r>
          </a:p>
          <a:p>
            <a:r>
              <a:rPr lang="en-US" dirty="0">
                <a:latin typeface="Apple Braille" pitchFamily="2" charset="0"/>
              </a:rPr>
              <a:t>Proposed Methodology</a:t>
            </a:r>
          </a:p>
          <a:p>
            <a:r>
              <a:rPr lang="en-US" dirty="0">
                <a:latin typeface="Apple Braille" pitchFamily="2" charset="0"/>
              </a:rPr>
              <a:t>Project Plan &amp; Feasibility</a:t>
            </a:r>
          </a:p>
          <a:p>
            <a:r>
              <a:rPr lang="en-US" dirty="0">
                <a:latin typeface="Apple Braille" pitchFamily="2" charset="0"/>
              </a:rPr>
              <a:t>Conclusion </a:t>
            </a:r>
          </a:p>
          <a:p>
            <a:r>
              <a:rPr lang="en-US" dirty="0">
                <a:latin typeface="Apple Braille" pitchFamily="2" charset="0"/>
              </a:rPr>
              <a:t>References</a:t>
            </a:r>
          </a:p>
        </p:txBody>
      </p:sp>
      <p:sp>
        <p:nvSpPr>
          <p:cNvPr id="6" name="Slide Number Placeholder 3">
            <a:extLst>
              <a:ext uri="{FF2B5EF4-FFF2-40B4-BE49-F238E27FC236}">
                <a16:creationId xmlns:a16="http://schemas.microsoft.com/office/drawing/2014/main" id="{49A1324F-DB87-5C48-88DE-7CCA414825A6}"/>
              </a:ext>
            </a:extLst>
          </p:cNvPr>
          <p:cNvSpPr>
            <a:spLocks noGrp="1"/>
          </p:cNvSpPr>
          <p:nvPr>
            <p:ph type="sldNum" sz="quarter" idx="12"/>
          </p:nvPr>
        </p:nvSpPr>
        <p:spPr>
          <a:xfrm>
            <a:off x="8610600" y="6865397"/>
            <a:ext cx="2743200" cy="365125"/>
          </a:xfrm>
        </p:spPr>
        <p:txBody>
          <a:bodyPr/>
          <a:lstStyle/>
          <a:p>
            <a:fld id="{1CC10BE2-3C26-5745-BCC0-8E079BF8AF08}" type="slidenum">
              <a:rPr lang="en-US" smtClean="0"/>
              <a:t>2</a:t>
            </a:fld>
            <a:endParaRPr lang="en-US"/>
          </a:p>
        </p:txBody>
      </p:sp>
    </p:spTree>
    <p:extLst>
      <p:ext uri="{BB962C8B-B14F-4D97-AF65-F5344CB8AC3E}">
        <p14:creationId xmlns:p14="http://schemas.microsoft.com/office/powerpoint/2010/main" val="221143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checkerboard(across)">
                                      <p:cBhvr>
                                        <p:cTn id="37" dur="500"/>
                                        <p:tgtEl>
                                          <p:spTgt spid="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
                                            <p:txEl>
                                              <p:pRg st="6" end="6"/>
                                            </p:txEl>
                                          </p:spTgt>
                                        </p:tgtEl>
                                        <p:attrNameLst>
                                          <p:attrName>style.visibility</p:attrName>
                                        </p:attrNameLst>
                                      </p:cBhvr>
                                      <p:to>
                                        <p:strVal val="visible"/>
                                      </p:to>
                                    </p:set>
                                    <p:animEffect transition="in" filter="checkerboard(across)">
                                      <p:cBhvr>
                                        <p:cTn id="4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DBA062-19D3-E464-CE7C-FACF7CD66454}"/>
              </a:ext>
            </a:extLst>
          </p:cNvPr>
          <p:cNvSpPr>
            <a:spLocks noGrp="1"/>
          </p:cNvSpPr>
          <p:nvPr>
            <p:ph type="sldNum" sz="quarter" idx="12"/>
          </p:nvPr>
        </p:nvSpPr>
        <p:spPr/>
        <p:txBody>
          <a:bodyPr/>
          <a:lstStyle/>
          <a:p>
            <a:fld id="{095B67F8-3864-425A-A4D9-E2BC08C4F04D}" type="slidenum">
              <a:rPr lang="en-IN" smtClean="0"/>
              <a:t>3</a:t>
            </a:fld>
            <a:endParaRPr lang="en-IN"/>
          </a:p>
        </p:txBody>
      </p:sp>
      <p:sp>
        <p:nvSpPr>
          <p:cNvPr id="4" name="TextBox 3">
            <a:extLst>
              <a:ext uri="{FF2B5EF4-FFF2-40B4-BE49-F238E27FC236}">
                <a16:creationId xmlns:a16="http://schemas.microsoft.com/office/drawing/2014/main" id="{DCD0EF1A-1A7C-882D-18A6-632AB693C183}"/>
              </a:ext>
            </a:extLst>
          </p:cNvPr>
          <p:cNvSpPr txBox="1"/>
          <p:nvPr/>
        </p:nvSpPr>
        <p:spPr>
          <a:xfrm>
            <a:off x="0" y="610136"/>
            <a:ext cx="12191999" cy="6247864"/>
          </a:xfrm>
          <a:prstGeom prst="rect">
            <a:avLst/>
          </a:prstGeom>
          <a:noFill/>
        </p:spPr>
        <p:txBody>
          <a:bodyPr wrap="square">
            <a:spAutoFit/>
          </a:bodyPr>
          <a:lstStyle/>
          <a:p>
            <a:pPr>
              <a:buNone/>
            </a:pPr>
            <a:r>
              <a:rPr lang="en-US" sz="1600" b="1" dirty="0"/>
              <a:t>1. Introduction</a:t>
            </a:r>
          </a:p>
          <a:p>
            <a:pPr lvl="1">
              <a:buFont typeface="Arial" panose="020B0604020202020204" pitchFamily="34" charset="0"/>
              <a:buChar char="•"/>
            </a:pPr>
            <a:r>
              <a:rPr lang="en-US" sz="1600" b="1" dirty="0"/>
              <a:t>Project Title:</a:t>
            </a:r>
            <a:r>
              <a:rPr lang="en-US" sz="1600" dirty="0"/>
              <a:t> A clear, concise, and professional name for your project.</a:t>
            </a:r>
          </a:p>
          <a:p>
            <a:pPr lvl="1">
              <a:buFont typeface="Arial" panose="020B0604020202020204" pitchFamily="34" charset="0"/>
              <a:buChar char="•"/>
            </a:pPr>
            <a:r>
              <a:rPr lang="en-US" sz="1600" b="1" dirty="0"/>
              <a:t>Problem Statement:</a:t>
            </a:r>
            <a:r>
              <a:rPr lang="en-US" sz="1600" dirty="0"/>
              <a:t> A detailed description of the specific issue you are trying to solve.</a:t>
            </a:r>
          </a:p>
          <a:p>
            <a:pPr lvl="1">
              <a:buFont typeface="Arial" panose="020B0604020202020204" pitchFamily="34" charset="0"/>
              <a:buChar char="•"/>
            </a:pPr>
            <a:r>
              <a:rPr lang="en-US" sz="1600" b="1" dirty="0"/>
              <a:t>Motivation:</a:t>
            </a:r>
            <a:r>
              <a:rPr lang="en-US" sz="1600" dirty="0"/>
              <a:t> Why is this project important? What drove your team to choose this?</a:t>
            </a:r>
          </a:p>
          <a:p>
            <a:pPr lvl="1">
              <a:buFont typeface="Arial" panose="020B0604020202020204" pitchFamily="34" charset="0"/>
              <a:buChar char="•"/>
            </a:pPr>
            <a:r>
              <a:rPr lang="en-US" sz="1600" b="1" dirty="0"/>
              <a:t>Objectives:</a:t>
            </a:r>
            <a:r>
              <a:rPr lang="en-US" sz="1600" dirty="0"/>
              <a:t> 3–5 high-level goals you aim to achieve by the end of the semester.</a:t>
            </a:r>
          </a:p>
          <a:p>
            <a:pPr>
              <a:buNone/>
            </a:pPr>
            <a:r>
              <a:rPr lang="en-US" sz="1600" b="1" dirty="0"/>
              <a:t>2. Literature Survey / Market Research</a:t>
            </a:r>
          </a:p>
          <a:p>
            <a:pPr lvl="1">
              <a:buFont typeface="Arial" panose="020B0604020202020204" pitchFamily="34" charset="0"/>
              <a:buChar char="•"/>
            </a:pPr>
            <a:r>
              <a:rPr lang="en-US" sz="1600" b="1" dirty="0"/>
              <a:t>Existing Systems:</a:t>
            </a:r>
            <a:r>
              <a:rPr lang="en-US" sz="1600" dirty="0"/>
              <a:t> An analysis of current products, software, or research papers similar to your idea.</a:t>
            </a:r>
          </a:p>
          <a:p>
            <a:pPr lvl="1">
              <a:buFont typeface="Arial" panose="020B0604020202020204" pitchFamily="34" charset="0"/>
              <a:buChar char="•"/>
            </a:pPr>
            <a:r>
              <a:rPr lang="en-US" sz="1600" b="1" dirty="0"/>
              <a:t>Gap Analysis:</a:t>
            </a:r>
            <a:r>
              <a:rPr lang="en-US" sz="1600" dirty="0"/>
              <a:t> Identifying what is missing in existing solutions that your project will provide.</a:t>
            </a:r>
          </a:p>
          <a:p>
            <a:pPr lvl="1">
              <a:buFont typeface="Arial" panose="020B0604020202020204" pitchFamily="34" charset="0"/>
              <a:buChar char="•"/>
            </a:pPr>
            <a:r>
              <a:rPr lang="en-US" sz="1600" b="1" dirty="0"/>
              <a:t>Comparative Study:</a:t>
            </a:r>
            <a:r>
              <a:rPr lang="en-US" sz="1600" dirty="0"/>
              <a:t> Often presented as a table comparing different methodologies or existing tools.</a:t>
            </a:r>
          </a:p>
          <a:p>
            <a:pPr>
              <a:buNone/>
            </a:pPr>
            <a:r>
              <a:rPr lang="en-US" sz="1600" b="1" dirty="0"/>
              <a:t>3. Requirement Analysis</a:t>
            </a:r>
          </a:p>
          <a:p>
            <a:pPr lvl="1">
              <a:buFont typeface="Arial" panose="020B0604020202020204" pitchFamily="34" charset="0"/>
              <a:buChar char="•"/>
            </a:pPr>
            <a:r>
              <a:rPr lang="en-US" sz="1600" b="1" dirty="0"/>
              <a:t>Functional Requirements:</a:t>
            </a:r>
            <a:r>
              <a:rPr lang="en-US" sz="1600" dirty="0"/>
              <a:t> What the system must do (e.g., "The user must be able to log in").</a:t>
            </a:r>
          </a:p>
          <a:p>
            <a:pPr lvl="1">
              <a:buFont typeface="Arial" panose="020B0604020202020204" pitchFamily="34" charset="0"/>
              <a:buChar char="•"/>
            </a:pPr>
            <a:r>
              <a:rPr lang="en-US" sz="1600" b="1" dirty="0"/>
              <a:t>Non-Functional Requirements:</a:t>
            </a:r>
            <a:r>
              <a:rPr lang="en-US" sz="1600" dirty="0"/>
              <a:t> Performance, security, scalability, and usability goals.</a:t>
            </a:r>
          </a:p>
          <a:p>
            <a:pPr lvl="1">
              <a:buFont typeface="Arial" panose="020B0604020202020204" pitchFamily="34" charset="0"/>
              <a:buChar char="•"/>
            </a:pPr>
            <a:r>
              <a:rPr lang="en-US" sz="1600" b="1" dirty="0"/>
              <a:t>Hardware Requirements:</a:t>
            </a:r>
            <a:r>
              <a:rPr lang="en-US" sz="1600" dirty="0"/>
              <a:t> The physical components needed (e.g., specific sensors, RAM, GPU).</a:t>
            </a:r>
          </a:p>
          <a:p>
            <a:pPr lvl="1">
              <a:buFont typeface="Arial" panose="020B0604020202020204" pitchFamily="34" charset="0"/>
              <a:buChar char="•"/>
            </a:pPr>
            <a:r>
              <a:rPr lang="en-US" sz="1600" b="1" dirty="0"/>
              <a:t>Software Requirements:</a:t>
            </a:r>
            <a:r>
              <a:rPr lang="en-US" sz="1600" dirty="0"/>
              <a:t> Operating systems, languages (Python, Java), frameworks (React, TensorFlow), and IDEs.</a:t>
            </a:r>
          </a:p>
          <a:p>
            <a:pPr>
              <a:buNone/>
            </a:pPr>
            <a:r>
              <a:rPr lang="en-US" sz="1600" b="1" dirty="0"/>
              <a:t>4. Proposed Methodology</a:t>
            </a:r>
          </a:p>
          <a:p>
            <a:pPr lvl="1">
              <a:buFont typeface="Arial" panose="020B0604020202020204" pitchFamily="34" charset="0"/>
              <a:buChar char="•"/>
            </a:pPr>
            <a:r>
              <a:rPr lang="en-US" sz="1600" b="1" dirty="0"/>
              <a:t>System Architecture:</a:t>
            </a:r>
            <a:r>
              <a:rPr lang="en-US" sz="1600" dirty="0"/>
              <a:t> A high-level block diagram showing how different parts of your project interact.</a:t>
            </a:r>
          </a:p>
          <a:p>
            <a:pPr lvl="1">
              <a:buFont typeface="Arial" panose="020B0604020202020204" pitchFamily="34" charset="0"/>
              <a:buChar char="•"/>
            </a:pPr>
            <a:r>
              <a:rPr lang="en-US" sz="1600" b="1" dirty="0"/>
              <a:t>Proposed Algorithm/Workflow:</a:t>
            </a:r>
            <a:r>
              <a:rPr lang="en-US" sz="1600" dirty="0"/>
              <a:t> A step-by-step logic of how your solution will work.</a:t>
            </a:r>
          </a:p>
          <a:p>
            <a:pPr lvl="1">
              <a:buFont typeface="Arial" panose="020B0604020202020204" pitchFamily="34" charset="0"/>
              <a:buChar char="•"/>
            </a:pPr>
            <a:r>
              <a:rPr lang="en-US" sz="1600" b="1" dirty="0"/>
              <a:t>Data Flow Diagram (DFD) or Flowchart:</a:t>
            </a:r>
            <a:r>
              <a:rPr lang="en-US" sz="1600" dirty="0"/>
              <a:t> Visual representation of the process.</a:t>
            </a:r>
          </a:p>
          <a:p>
            <a:pPr>
              <a:buNone/>
            </a:pPr>
            <a:r>
              <a:rPr lang="en-US" sz="1600" b="1" dirty="0"/>
              <a:t>5. Project Plan &amp; Feasibility</a:t>
            </a:r>
          </a:p>
          <a:p>
            <a:pPr lvl="1">
              <a:buFont typeface="Arial" panose="020B0604020202020204" pitchFamily="34" charset="0"/>
              <a:buChar char="•"/>
            </a:pPr>
            <a:r>
              <a:rPr lang="en-US" sz="1600" b="1" dirty="0"/>
              <a:t>Feasibility Study:</a:t>
            </a:r>
            <a:r>
              <a:rPr lang="en-US" sz="1600" dirty="0"/>
              <a:t> Technical, Economic, and Operational feasibility.</a:t>
            </a:r>
          </a:p>
          <a:p>
            <a:pPr lvl="1">
              <a:buFont typeface="Arial" panose="020B0604020202020204" pitchFamily="34" charset="0"/>
              <a:buChar char="•"/>
            </a:pPr>
            <a:r>
              <a:rPr lang="en-US" sz="1600" b="1" dirty="0"/>
              <a:t>Work Breakdown Structure (WBS):</a:t>
            </a:r>
            <a:r>
              <a:rPr lang="en-US" sz="1600" dirty="0"/>
              <a:t> Who is doing what in the team?</a:t>
            </a:r>
          </a:p>
          <a:p>
            <a:pPr lvl="1">
              <a:buFont typeface="Arial" panose="020B0604020202020204" pitchFamily="34" charset="0"/>
              <a:buChar char="•"/>
            </a:pPr>
            <a:r>
              <a:rPr lang="en-US" sz="1600" b="1" dirty="0"/>
              <a:t>Gantt Chart:</a:t>
            </a:r>
            <a:r>
              <a:rPr lang="en-US" sz="1600" dirty="0"/>
              <a:t> A timeline showing your milestones for Evaluation 2 and the Final Submission.</a:t>
            </a:r>
          </a:p>
          <a:p>
            <a:pPr>
              <a:buNone/>
            </a:pPr>
            <a:r>
              <a:rPr lang="en-US" sz="1600" b="1" dirty="0"/>
              <a:t>6. Conclusion &amp; References</a:t>
            </a:r>
          </a:p>
          <a:p>
            <a:pPr lvl="1">
              <a:buFont typeface="Arial" panose="020B0604020202020204" pitchFamily="34" charset="0"/>
              <a:buChar char="•"/>
            </a:pPr>
            <a:r>
              <a:rPr lang="en-US" sz="1600" b="1" dirty="0"/>
              <a:t>Expected Outcomes:</a:t>
            </a:r>
            <a:r>
              <a:rPr lang="en-US" sz="1600" dirty="0"/>
              <a:t> What the final "deliverable" will look like.</a:t>
            </a:r>
          </a:p>
          <a:p>
            <a:pPr lvl="1">
              <a:buFont typeface="Arial" panose="020B0604020202020204" pitchFamily="34" charset="0"/>
              <a:buChar char="•"/>
            </a:pPr>
            <a:r>
              <a:rPr lang="en-US" sz="1600" b="1" dirty="0"/>
              <a:t>References:</a:t>
            </a:r>
            <a:r>
              <a:rPr lang="en-US" sz="1600" dirty="0"/>
              <a:t> A list of papers, websites, and books consulted (formatted in APA or IEEE style).</a:t>
            </a:r>
          </a:p>
        </p:txBody>
      </p:sp>
    </p:spTree>
    <p:extLst>
      <p:ext uri="{BB962C8B-B14F-4D97-AF65-F5344CB8AC3E}">
        <p14:creationId xmlns:p14="http://schemas.microsoft.com/office/powerpoint/2010/main" val="2897421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BDF9A-AE66-8F01-7756-E0483332C6C7}"/>
              </a:ext>
            </a:extLst>
          </p:cNvPr>
          <p:cNvSpPr>
            <a:spLocks noGrp="1"/>
          </p:cNvSpPr>
          <p:nvPr>
            <p:ph type="title"/>
          </p:nvPr>
        </p:nvSpPr>
        <p:spPr>
          <a:xfrm>
            <a:off x="838200" y="569167"/>
            <a:ext cx="10610461" cy="1593427"/>
          </a:xfrm>
        </p:spPr>
        <p:txBody>
          <a:bodyPr/>
          <a:lstStyle/>
          <a:p>
            <a:br>
              <a:rPr lang="en-US" dirty="0"/>
            </a:br>
            <a:r>
              <a:rPr lang="en-US" dirty="0"/>
              <a:t>Introduction </a:t>
            </a:r>
            <a:br>
              <a:rPr lang="en-US" dirty="0"/>
            </a:br>
            <a:r>
              <a:rPr lang="en-US" dirty="0"/>
              <a:t>(</a:t>
            </a:r>
            <a:r>
              <a:rPr lang="en-US" sz="2400" dirty="0"/>
              <a:t>An Explainable AI Framework for Personalized Carbon Footprint</a:t>
            </a:r>
            <a:br>
              <a:rPr lang="en-US" sz="2400" dirty="0"/>
            </a:br>
            <a:r>
              <a:rPr lang="en-US" sz="2400" dirty="0"/>
              <a:t> Prediction and Sustainability Optimization</a:t>
            </a:r>
            <a:r>
              <a:rPr lang="en-US" dirty="0"/>
              <a:t>)</a:t>
            </a:r>
            <a:br>
              <a:rPr lang="en-US" dirty="0"/>
            </a:br>
            <a:endParaRPr lang="en-US" dirty="0"/>
          </a:p>
        </p:txBody>
      </p:sp>
      <p:sp>
        <p:nvSpPr>
          <p:cNvPr id="4" name="Content Placeholder 2">
            <a:extLst>
              <a:ext uri="{FF2B5EF4-FFF2-40B4-BE49-F238E27FC236}">
                <a16:creationId xmlns:a16="http://schemas.microsoft.com/office/drawing/2014/main" id="{A7BB99FD-62B3-6C72-172F-A2BB33338082}"/>
              </a:ext>
            </a:extLst>
          </p:cNvPr>
          <p:cNvSpPr>
            <a:spLocks noGrp="1" noChangeArrowheads="1"/>
          </p:cNvSpPr>
          <p:nvPr>
            <p:ph idx="1"/>
          </p:nvPr>
        </p:nvSpPr>
        <p:spPr>
          <a:xfrm>
            <a:off x="838200" y="2162595"/>
            <a:ext cx="10515600" cy="4014368"/>
          </a:xfrm>
        </p:spPr>
        <p:txBody>
          <a:bodyPr/>
          <a:lstStyle/>
          <a:p>
            <a:pPr marL="0" indent="0" algn="just" eaLnBrk="1" hangingPunct="1">
              <a:buNone/>
              <a:defRPr/>
            </a:pPr>
            <a:r>
              <a:rPr lang="en-US" altLang="en-US" sz="2200" b="1" dirty="0">
                <a:latin typeface="+mj-lt"/>
                <a:cs typeface="Times New Roman" panose="02020603050405020304" pitchFamily="18" charset="0"/>
              </a:rPr>
              <a:t>Problem Statement </a:t>
            </a:r>
          </a:p>
          <a:p>
            <a:pPr marL="0" indent="0" algn="just">
              <a:buNone/>
              <a:defRPr/>
            </a:pPr>
            <a:r>
              <a:rPr lang="en-US" sz="2200" dirty="0"/>
              <a:t>Climate change is a critical global challenge, primarily caused by increasing carbon dioxide (CO₂) emissions from human activities such as transportation, electricity consumption, industrial processes, and lifestyle choices. Most existing carbon footprint calculators provide generic and static estimates and fail to account for individual behavior patterns and temporal trends. Additionally, many AI-based prediction systems function as black-box models, offering little to no explanation for their predictions, which reduces transparency and user trust. Moreover, current systems often focus only on present or historical emissions, lacking the ability to predict future CO₂ emissions, which is essential for proactive sustainability planning and policy decision-making. Therefore, there is a strong need for a personalized, accurate, explainable, and future-aware AI-based framework that can predict both current and future carbon footprints and guide users toward sustainable actions.</a:t>
            </a:r>
            <a:endParaRPr lang="en-US" altLang="en-US" sz="2200" b="1" dirty="0">
              <a:latin typeface="+mj-lt"/>
              <a:cs typeface="Times New Roman" panose="02020603050405020304" pitchFamily="18" charset="0"/>
            </a:endParaRPr>
          </a:p>
          <a:p>
            <a:pPr marL="0" indent="0" algn="just" eaLnBrk="1" hangingPunct="1">
              <a:buNone/>
              <a:defRPr/>
            </a:pPr>
            <a:endParaRPr lang="en-US" altLang="en-US" sz="2200" b="1" dirty="0">
              <a:latin typeface="+mj-lt"/>
              <a:cs typeface="Times New Roman" panose="02020603050405020304" pitchFamily="18" charset="0"/>
            </a:endParaRPr>
          </a:p>
        </p:txBody>
      </p:sp>
      <p:sp>
        <p:nvSpPr>
          <p:cNvPr id="8" name="Slide Number Placeholder 7">
            <a:extLst>
              <a:ext uri="{FF2B5EF4-FFF2-40B4-BE49-F238E27FC236}">
                <a16:creationId xmlns:a16="http://schemas.microsoft.com/office/drawing/2014/main" id="{77B45AD2-5653-F028-F37A-9055B02FE7B8}"/>
              </a:ext>
            </a:extLst>
          </p:cNvPr>
          <p:cNvSpPr>
            <a:spLocks noGrp="1"/>
          </p:cNvSpPr>
          <p:nvPr>
            <p:ph type="sldNum" sz="quarter" idx="12"/>
          </p:nvPr>
        </p:nvSpPr>
        <p:spPr/>
        <p:txBody>
          <a:bodyPr/>
          <a:lstStyle/>
          <a:p>
            <a:fld id="{095B67F8-3864-425A-A4D9-E2BC08C4F04D}" type="slidenum">
              <a:rPr lang="en-IN" smtClean="0"/>
              <a:t>4</a:t>
            </a:fld>
            <a:endParaRPr lang="en-IN"/>
          </a:p>
        </p:txBody>
      </p:sp>
    </p:spTree>
    <p:extLst>
      <p:ext uri="{BB962C8B-B14F-4D97-AF65-F5344CB8AC3E}">
        <p14:creationId xmlns:p14="http://schemas.microsoft.com/office/powerpoint/2010/main" val="4026787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91B4-2B76-32D5-67AE-3E8204B6217A}"/>
              </a:ext>
            </a:extLst>
          </p:cNvPr>
          <p:cNvSpPr>
            <a:spLocks noGrp="1"/>
          </p:cNvSpPr>
          <p:nvPr>
            <p:ph type="title"/>
          </p:nvPr>
        </p:nvSpPr>
        <p:spPr>
          <a:xfrm>
            <a:off x="838200" y="270588"/>
            <a:ext cx="10515600" cy="1420100"/>
          </a:xfrm>
        </p:spPr>
        <p:txBody>
          <a:bodyPr/>
          <a:lstStyle/>
          <a:p>
            <a:r>
              <a:rPr lang="en-US" dirty="0"/>
              <a:t>Literature review</a:t>
            </a:r>
          </a:p>
        </p:txBody>
      </p:sp>
      <p:graphicFrame>
        <p:nvGraphicFramePr>
          <p:cNvPr id="4" name="Content Placeholder 3">
            <a:extLst>
              <a:ext uri="{FF2B5EF4-FFF2-40B4-BE49-F238E27FC236}">
                <a16:creationId xmlns:a16="http://schemas.microsoft.com/office/drawing/2014/main" id="{6E250EFF-FFA6-A059-4A43-6C7E2F6E066E}"/>
              </a:ext>
            </a:extLst>
          </p:cNvPr>
          <p:cNvGraphicFramePr>
            <a:graphicFrameLocks noGrp="1"/>
          </p:cNvGraphicFramePr>
          <p:nvPr>
            <p:ph idx="1"/>
            <p:extLst>
              <p:ext uri="{D42A27DB-BD31-4B8C-83A1-F6EECF244321}">
                <p14:modId xmlns:p14="http://schemas.microsoft.com/office/powerpoint/2010/main" val="3636431999"/>
              </p:ext>
            </p:extLst>
          </p:nvPr>
        </p:nvGraphicFramePr>
        <p:xfrm>
          <a:off x="838200" y="1530220"/>
          <a:ext cx="10928421" cy="5238245"/>
        </p:xfrm>
        <a:graphic>
          <a:graphicData uri="http://schemas.openxmlformats.org/drawingml/2006/table">
            <a:tbl>
              <a:tblPr firstRow="1" bandRow="1">
                <a:tableStyleId>{5C22544A-7EE6-4342-B048-85BDC9FD1C3A}</a:tableStyleId>
              </a:tblPr>
              <a:tblGrid>
                <a:gridCol w="1614288">
                  <a:extLst>
                    <a:ext uri="{9D8B030D-6E8A-4147-A177-3AD203B41FA5}">
                      <a16:colId xmlns:a16="http://schemas.microsoft.com/office/drawing/2014/main" val="1539739518"/>
                    </a:ext>
                  </a:extLst>
                </a:gridCol>
                <a:gridCol w="3581890">
                  <a:extLst>
                    <a:ext uri="{9D8B030D-6E8A-4147-A177-3AD203B41FA5}">
                      <a16:colId xmlns:a16="http://schemas.microsoft.com/office/drawing/2014/main" val="1800967558"/>
                    </a:ext>
                  </a:extLst>
                </a:gridCol>
                <a:gridCol w="3153735">
                  <a:extLst>
                    <a:ext uri="{9D8B030D-6E8A-4147-A177-3AD203B41FA5}">
                      <a16:colId xmlns:a16="http://schemas.microsoft.com/office/drawing/2014/main" val="1270894706"/>
                    </a:ext>
                  </a:extLst>
                </a:gridCol>
                <a:gridCol w="2578508">
                  <a:extLst>
                    <a:ext uri="{9D8B030D-6E8A-4147-A177-3AD203B41FA5}">
                      <a16:colId xmlns:a16="http://schemas.microsoft.com/office/drawing/2014/main" val="1080103288"/>
                    </a:ext>
                  </a:extLst>
                </a:gridCol>
              </a:tblGrid>
              <a:tr h="666245">
                <a:tc>
                  <a:txBody>
                    <a:bodyPr/>
                    <a:lstStyle/>
                    <a:p>
                      <a:r>
                        <a:rPr lang="en-US" dirty="0"/>
                        <a:t>Year</a:t>
                      </a:r>
                    </a:p>
                  </a:txBody>
                  <a:tcPr/>
                </a:tc>
                <a:tc>
                  <a:txBody>
                    <a:bodyPr/>
                    <a:lstStyle/>
                    <a:p>
                      <a:r>
                        <a:rPr lang="en-US" dirty="0"/>
                        <a:t>Reference of Paper(Title/ Name)</a:t>
                      </a:r>
                    </a:p>
                  </a:txBody>
                  <a:tcPr/>
                </a:tc>
                <a:tc>
                  <a:txBody>
                    <a:bodyPr/>
                    <a:lstStyle/>
                    <a:p>
                      <a:r>
                        <a:rPr lang="en-US" dirty="0"/>
                        <a:t>Research Gap</a:t>
                      </a:r>
                    </a:p>
                  </a:txBody>
                  <a:tcPr/>
                </a:tc>
                <a:tc>
                  <a:txBody>
                    <a:bodyPr/>
                    <a:lstStyle/>
                    <a:p>
                      <a:r>
                        <a:rPr lang="en-US" dirty="0"/>
                        <a:t>Proposed model </a:t>
                      </a:r>
                    </a:p>
                  </a:txBody>
                  <a:tcPr/>
                </a:tc>
                <a:extLst>
                  <a:ext uri="{0D108BD9-81ED-4DB2-BD59-A6C34878D82A}">
                    <a16:rowId xmlns:a16="http://schemas.microsoft.com/office/drawing/2014/main" val="261339132"/>
                  </a:ext>
                </a:extLst>
              </a:tr>
              <a:tr h="370840">
                <a:tc>
                  <a:txBody>
                    <a:bodyPr/>
                    <a:lstStyle/>
                    <a:p>
                      <a:pPr>
                        <a:buNone/>
                      </a:pPr>
                      <a:r>
                        <a:rPr lang="en-IN" b="1"/>
                        <a:t>2023</a:t>
                      </a:r>
                      <a:endParaRPr lang="en-IN"/>
                    </a:p>
                  </a:txBody>
                  <a:tcPr anchor="ctr"/>
                </a:tc>
                <a:tc>
                  <a:txBody>
                    <a:bodyPr/>
                    <a:lstStyle/>
                    <a:p>
                      <a:pPr>
                        <a:buNone/>
                      </a:pPr>
                      <a:r>
                        <a:rPr lang="en-US"/>
                        <a:t>IEEE – </a:t>
                      </a:r>
                      <a:r>
                        <a:rPr lang="en-US" i="1"/>
                        <a:t>Machine Learning Approaches for Carbon Emission Forecasting</a:t>
                      </a:r>
                      <a:endParaRPr lang="en-US"/>
                    </a:p>
                  </a:txBody>
                  <a:tcPr anchor="ctr"/>
                </a:tc>
                <a:tc>
                  <a:txBody>
                    <a:bodyPr/>
                    <a:lstStyle/>
                    <a:p>
                      <a:pPr>
                        <a:buNone/>
                      </a:pPr>
                      <a:r>
                        <a:rPr lang="en-US"/>
                        <a:t>• Dominance of traditional statistical models</a:t>
                      </a:r>
                      <a:br>
                        <a:rPr lang="en-US"/>
                      </a:br>
                      <a:r>
                        <a:rPr lang="en-US"/>
                        <a:t>• Limited personalization</a:t>
                      </a:r>
                      <a:br>
                        <a:rPr lang="en-US"/>
                      </a:br>
                      <a:r>
                        <a:rPr lang="en-US"/>
                        <a:t>• Weak handling of nonlinear relationships</a:t>
                      </a:r>
                      <a:br>
                        <a:rPr lang="en-US"/>
                      </a:br>
                      <a:r>
                        <a:rPr lang="en-US"/>
                        <a:t>• No explainability</a:t>
                      </a:r>
                    </a:p>
                  </a:txBody>
                  <a:tcPr anchor="ctr"/>
                </a:tc>
                <a:tc>
                  <a:txBody>
                    <a:bodyPr/>
                    <a:lstStyle/>
                    <a:p>
                      <a:pPr>
                        <a:buNone/>
                      </a:pPr>
                      <a:r>
                        <a:rPr lang="en-US" dirty="0"/>
                        <a:t>• ML models (Random Forest)</a:t>
                      </a:r>
                      <a:br>
                        <a:rPr lang="en-US" dirty="0"/>
                      </a:br>
                      <a:r>
                        <a:rPr lang="en-US" dirty="0"/>
                        <a:t>• Improved prediction accuracy</a:t>
                      </a:r>
                      <a:br>
                        <a:rPr lang="en-US" dirty="0"/>
                      </a:br>
                      <a:r>
                        <a:rPr lang="en-US" dirty="0"/>
                        <a:t>• Better nonlinear modeling</a:t>
                      </a:r>
                    </a:p>
                  </a:txBody>
                  <a:tcPr anchor="ctr"/>
                </a:tc>
                <a:extLst>
                  <a:ext uri="{0D108BD9-81ED-4DB2-BD59-A6C34878D82A}">
                    <a16:rowId xmlns:a16="http://schemas.microsoft.com/office/drawing/2014/main" val="2177817846"/>
                  </a:ext>
                </a:extLst>
              </a:tr>
              <a:tr h="370840">
                <a:tc>
                  <a:txBody>
                    <a:bodyPr/>
                    <a:lstStyle/>
                    <a:p>
                      <a:pPr>
                        <a:buNone/>
                      </a:pPr>
                      <a:r>
                        <a:rPr lang="en-IN" b="1"/>
                        <a:t>2024</a:t>
                      </a:r>
                      <a:endParaRPr lang="en-IN"/>
                    </a:p>
                  </a:txBody>
                  <a:tcPr anchor="ctr"/>
                </a:tc>
                <a:tc>
                  <a:txBody>
                    <a:bodyPr/>
                    <a:lstStyle/>
                    <a:p>
                      <a:pPr>
                        <a:buNone/>
                      </a:pPr>
                      <a:r>
                        <a:rPr lang="en-US"/>
                        <a:t>Springer – </a:t>
                      </a:r>
                      <a:r>
                        <a:rPr lang="en-US" i="1"/>
                        <a:t>Deep Learning-Based CO₂ Emission Prediction Using Temporal Data</a:t>
                      </a:r>
                      <a:endParaRPr lang="en-US"/>
                    </a:p>
                  </a:txBody>
                  <a:tcPr anchor="ctr"/>
                </a:tc>
                <a:tc>
                  <a:txBody>
                    <a:bodyPr/>
                    <a:lstStyle/>
                    <a:p>
                      <a:pPr>
                        <a:buNone/>
                      </a:pPr>
                      <a:r>
                        <a:rPr lang="en-US"/>
                        <a:t>• Deep learning treated as black box</a:t>
                      </a:r>
                      <a:br>
                        <a:rPr lang="en-US"/>
                      </a:br>
                      <a:r>
                        <a:rPr lang="en-US"/>
                        <a:t>• No transparency for predictions</a:t>
                      </a:r>
                      <a:br>
                        <a:rPr lang="en-US"/>
                      </a:br>
                      <a:r>
                        <a:rPr lang="en-US"/>
                        <a:t>• Focus only on historical emissions</a:t>
                      </a:r>
                    </a:p>
                  </a:txBody>
                  <a:tcPr anchor="ctr"/>
                </a:tc>
                <a:tc>
                  <a:txBody>
                    <a:bodyPr/>
                    <a:lstStyle/>
                    <a:p>
                      <a:pPr>
                        <a:buNone/>
                      </a:pPr>
                      <a:r>
                        <a:rPr lang="en-US"/>
                        <a:t>• LSTM-based deep learning</a:t>
                      </a:r>
                      <a:br>
                        <a:rPr lang="en-US"/>
                      </a:br>
                      <a:r>
                        <a:rPr lang="en-US"/>
                        <a:t>• Captures temporal patterns</a:t>
                      </a:r>
                      <a:br>
                        <a:rPr lang="en-US"/>
                      </a:br>
                      <a:r>
                        <a:rPr lang="en-US"/>
                        <a:t>• High forecasting accuracy</a:t>
                      </a:r>
                    </a:p>
                  </a:txBody>
                  <a:tcPr anchor="ctr"/>
                </a:tc>
                <a:extLst>
                  <a:ext uri="{0D108BD9-81ED-4DB2-BD59-A6C34878D82A}">
                    <a16:rowId xmlns:a16="http://schemas.microsoft.com/office/drawing/2014/main" val="923434821"/>
                  </a:ext>
                </a:extLst>
              </a:tr>
              <a:tr h="370840">
                <a:tc>
                  <a:txBody>
                    <a:bodyPr/>
                    <a:lstStyle/>
                    <a:p>
                      <a:pPr>
                        <a:buNone/>
                      </a:pPr>
                      <a:r>
                        <a:rPr lang="en-IN" b="1"/>
                        <a:t>2024</a:t>
                      </a:r>
                      <a:endParaRPr lang="en-IN"/>
                    </a:p>
                  </a:txBody>
                  <a:tcPr anchor="ctr"/>
                </a:tc>
                <a:tc>
                  <a:txBody>
                    <a:bodyPr/>
                    <a:lstStyle/>
                    <a:p>
                      <a:pPr>
                        <a:buNone/>
                      </a:pPr>
                      <a:r>
                        <a:rPr lang="en-US"/>
                        <a:t>Elsevier (Energy Reports) – </a:t>
                      </a:r>
                      <a:r>
                        <a:rPr lang="en-US" i="1"/>
                        <a:t>An explainable comparative study of statistical, machine learning, deep learning, and hybrid models for CO₂ emissions forecasting in Australia</a:t>
                      </a:r>
                      <a:endParaRPr lang="en-US"/>
                    </a:p>
                  </a:txBody>
                  <a:tcPr anchor="ctr"/>
                </a:tc>
                <a:tc>
                  <a:txBody>
                    <a:bodyPr/>
                    <a:lstStyle/>
                    <a:p>
                      <a:pPr>
                        <a:buNone/>
                      </a:pPr>
                      <a:r>
                        <a:rPr lang="en-US"/>
                        <a:t>• Lack of interpretability in existing models</a:t>
                      </a:r>
                      <a:br>
                        <a:rPr lang="en-US"/>
                      </a:br>
                      <a:r>
                        <a:rPr lang="en-US"/>
                        <a:t>• No personalized emission analysis</a:t>
                      </a:r>
                      <a:br>
                        <a:rPr lang="en-US"/>
                      </a:br>
                      <a:r>
                        <a:rPr lang="en-US"/>
                        <a:t>• Limited future prediction insights</a:t>
                      </a:r>
                    </a:p>
                  </a:txBody>
                  <a:tcPr anchor="ctr"/>
                </a:tc>
                <a:tc>
                  <a:txBody>
                    <a:bodyPr/>
                    <a:lstStyle/>
                    <a:p>
                      <a:pPr>
                        <a:buNone/>
                      </a:pPr>
                      <a:r>
                        <a:rPr lang="en-US" dirty="0"/>
                        <a:t>• DL models</a:t>
                      </a:r>
                      <a:br>
                        <a:rPr lang="en-US" dirty="0"/>
                      </a:br>
                      <a:r>
                        <a:rPr lang="en-US" dirty="0"/>
                        <a:t>• Improved accuracy and transparency</a:t>
                      </a:r>
                    </a:p>
                  </a:txBody>
                  <a:tcPr anchor="ctr"/>
                </a:tc>
                <a:extLst>
                  <a:ext uri="{0D108BD9-81ED-4DB2-BD59-A6C34878D82A}">
                    <a16:rowId xmlns:a16="http://schemas.microsoft.com/office/drawing/2014/main" val="977902632"/>
                  </a:ext>
                </a:extLst>
              </a:tr>
              <a:tr h="370840">
                <a:tc>
                  <a:txBody>
                    <a:bodyPr/>
                    <a:lstStyle/>
                    <a:p>
                      <a:pPr>
                        <a:buNone/>
                      </a:pPr>
                      <a:r>
                        <a:rPr lang="en-IN" b="1"/>
                        <a:t>2024</a:t>
                      </a:r>
                      <a:endParaRPr lang="en-IN"/>
                    </a:p>
                  </a:txBody>
                  <a:tcPr anchor="ctr"/>
                </a:tc>
                <a:tc>
                  <a:txBody>
                    <a:bodyPr/>
                    <a:lstStyle/>
                    <a:p>
                      <a:pPr>
                        <a:buNone/>
                      </a:pPr>
                      <a:r>
                        <a:rPr lang="en-US"/>
                        <a:t>ScienceDirect – </a:t>
                      </a:r>
                      <a:r>
                        <a:rPr lang="en-US" i="1"/>
                        <a:t>Explainable Artificial Intelligence for Energy Consumption and Emission Forecasting</a:t>
                      </a:r>
                      <a:endParaRPr lang="en-US"/>
                    </a:p>
                  </a:txBody>
                  <a:tcPr anchor="ctr"/>
                </a:tc>
                <a:tc>
                  <a:txBody>
                    <a:bodyPr/>
                    <a:lstStyle/>
                    <a:p>
                      <a:pPr>
                        <a:buNone/>
                      </a:pPr>
                      <a:r>
                        <a:rPr lang="en-US"/>
                        <a:t>• Explainability rarely integrated with forecasting</a:t>
                      </a:r>
                      <a:br>
                        <a:rPr lang="en-US"/>
                      </a:br>
                      <a:r>
                        <a:rPr lang="en-US"/>
                        <a:t>• Limited user-level insights</a:t>
                      </a:r>
                      <a:br>
                        <a:rPr lang="en-US"/>
                      </a:br>
                      <a:r>
                        <a:rPr lang="en-US"/>
                        <a:t>• No sustainability guidance</a:t>
                      </a:r>
                    </a:p>
                  </a:txBody>
                  <a:tcPr anchor="ctr"/>
                </a:tc>
                <a:tc>
                  <a:txBody>
                    <a:bodyPr/>
                    <a:lstStyle/>
                    <a:p>
                      <a:pPr>
                        <a:buNone/>
                      </a:pPr>
                      <a:r>
                        <a:rPr lang="en-IN" dirty="0"/>
                        <a:t>• Feature importance analysis</a:t>
                      </a:r>
                      <a:br>
                        <a:rPr lang="en-IN" dirty="0"/>
                      </a:br>
                      <a:r>
                        <a:rPr lang="en-IN" dirty="0"/>
                        <a:t>• Transparent prediction outcomes</a:t>
                      </a:r>
                    </a:p>
                  </a:txBody>
                  <a:tcPr anchor="ctr"/>
                </a:tc>
                <a:extLst>
                  <a:ext uri="{0D108BD9-81ED-4DB2-BD59-A6C34878D82A}">
                    <a16:rowId xmlns:a16="http://schemas.microsoft.com/office/drawing/2014/main" val="3356153649"/>
                  </a:ext>
                </a:extLst>
              </a:tr>
              <a:tr h="384950">
                <a:tc>
                  <a:txBody>
                    <a:bodyPr/>
                    <a:lstStyle/>
                    <a:p>
                      <a:pPr>
                        <a:buNone/>
                      </a:pPr>
                      <a:r>
                        <a:rPr lang="en-IN" b="1"/>
                        <a:t>2025</a:t>
                      </a:r>
                      <a:endParaRPr lang="en-IN"/>
                    </a:p>
                  </a:txBody>
                  <a:tcPr anchor="ctr"/>
                </a:tc>
                <a:tc>
                  <a:txBody>
                    <a:bodyPr/>
                    <a:lstStyle/>
                    <a:p>
                      <a:pPr>
                        <a:buNone/>
                      </a:pPr>
                      <a:r>
                        <a:rPr lang="en-US"/>
                        <a:t>Elsevier – </a:t>
                      </a:r>
                      <a:r>
                        <a:rPr lang="en-US" i="1"/>
                        <a:t>Hybrid AI Models for Sustainable Energy and Carbon Emission Optimization</a:t>
                      </a:r>
                      <a:endParaRPr lang="en-US"/>
                    </a:p>
                  </a:txBody>
                  <a:tcPr anchor="ctr"/>
                </a:tc>
                <a:tc>
                  <a:txBody>
                    <a:bodyPr/>
                    <a:lstStyle/>
                    <a:p>
                      <a:pPr>
                        <a:buNone/>
                      </a:pPr>
                      <a:r>
                        <a:rPr lang="en-US"/>
                        <a:t>• Forecasting not connected to sustainability actions</a:t>
                      </a:r>
                      <a:br>
                        <a:rPr lang="en-US"/>
                      </a:br>
                      <a:r>
                        <a:rPr lang="en-US"/>
                        <a:t>• No optimization layer</a:t>
                      </a:r>
                    </a:p>
                  </a:txBody>
                  <a:tcPr anchor="ctr"/>
                </a:tc>
                <a:tc>
                  <a:txBody>
                    <a:bodyPr/>
                    <a:lstStyle/>
                    <a:p>
                      <a:pPr>
                        <a:buNone/>
                      </a:pPr>
                      <a:r>
                        <a:rPr lang="en-US" dirty="0"/>
                        <a:t>• Hybrid forecasting + optimization framework</a:t>
                      </a:r>
                      <a:br>
                        <a:rPr lang="en-US" dirty="0"/>
                      </a:br>
                      <a:r>
                        <a:rPr lang="en-US" dirty="0"/>
                        <a:t>• Actionable sustainability recommendations</a:t>
                      </a:r>
                    </a:p>
                  </a:txBody>
                  <a:tcPr anchor="ctr"/>
                </a:tc>
                <a:extLst>
                  <a:ext uri="{0D108BD9-81ED-4DB2-BD59-A6C34878D82A}">
                    <a16:rowId xmlns:a16="http://schemas.microsoft.com/office/drawing/2014/main" val="1256374233"/>
                  </a:ext>
                </a:extLst>
              </a:tr>
            </a:tbl>
          </a:graphicData>
        </a:graphic>
      </p:graphicFrame>
      <p:sp>
        <p:nvSpPr>
          <p:cNvPr id="7" name="Slide Number Placeholder 6">
            <a:extLst>
              <a:ext uri="{FF2B5EF4-FFF2-40B4-BE49-F238E27FC236}">
                <a16:creationId xmlns:a16="http://schemas.microsoft.com/office/drawing/2014/main" id="{A43FF53A-7BBB-E69F-27F8-50FE8E4A2453}"/>
              </a:ext>
            </a:extLst>
          </p:cNvPr>
          <p:cNvSpPr>
            <a:spLocks noGrp="1"/>
          </p:cNvSpPr>
          <p:nvPr>
            <p:ph type="sldNum" sz="quarter" idx="12"/>
          </p:nvPr>
        </p:nvSpPr>
        <p:spPr/>
        <p:txBody>
          <a:bodyPr/>
          <a:lstStyle/>
          <a:p>
            <a:fld id="{095B67F8-3864-425A-A4D9-E2BC08C4F04D}" type="slidenum">
              <a:rPr lang="en-IN" smtClean="0"/>
              <a:t>5</a:t>
            </a:fld>
            <a:endParaRPr lang="en-IN"/>
          </a:p>
        </p:txBody>
      </p:sp>
    </p:spTree>
    <p:extLst>
      <p:ext uri="{BB962C8B-B14F-4D97-AF65-F5344CB8AC3E}">
        <p14:creationId xmlns:p14="http://schemas.microsoft.com/office/powerpoint/2010/main" val="3139793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32DBE-52EE-A517-2F0D-7109ADFE71A0}"/>
              </a:ext>
            </a:extLst>
          </p:cNvPr>
          <p:cNvSpPr>
            <a:spLocks noGrp="1"/>
          </p:cNvSpPr>
          <p:nvPr>
            <p:ph type="title"/>
          </p:nvPr>
        </p:nvSpPr>
        <p:spPr/>
        <p:txBody>
          <a:bodyPr/>
          <a:lstStyle/>
          <a:p>
            <a:r>
              <a:rPr lang="en-IN" dirty="0"/>
              <a:t>GAP ANALYSIS</a:t>
            </a:r>
            <a:endParaRPr lang="en-US" dirty="0"/>
          </a:p>
        </p:txBody>
      </p:sp>
      <p:sp>
        <p:nvSpPr>
          <p:cNvPr id="3" name="Content Placeholder 2">
            <a:extLst>
              <a:ext uri="{FF2B5EF4-FFF2-40B4-BE49-F238E27FC236}">
                <a16:creationId xmlns:a16="http://schemas.microsoft.com/office/drawing/2014/main" id="{91A3786C-0A2A-1C6C-07C5-A4598D757276}"/>
              </a:ext>
            </a:extLst>
          </p:cNvPr>
          <p:cNvSpPr>
            <a:spLocks noGrp="1"/>
          </p:cNvSpPr>
          <p:nvPr>
            <p:ph idx="1"/>
          </p:nvPr>
        </p:nvSpPr>
        <p:spPr>
          <a:xfrm>
            <a:off x="838200" y="1586204"/>
            <a:ext cx="10515600" cy="4590759"/>
          </a:xfrm>
        </p:spPr>
        <p:txBody>
          <a:bodyPr/>
          <a:lstStyle/>
          <a:p>
            <a:pPr marL="0" indent="0">
              <a:buNone/>
            </a:pPr>
            <a:r>
              <a:rPr lang="en-IN" sz="2200" b="1" dirty="0"/>
              <a:t>Identified Research Gaps</a:t>
            </a:r>
          </a:p>
          <a:p>
            <a:pPr marL="0" indent="0">
              <a:buNone/>
            </a:pPr>
            <a:r>
              <a:rPr lang="en-US" sz="2200" dirty="0"/>
              <a:t>Based on the literature review, the following gaps are identified in existing systems:</a:t>
            </a:r>
          </a:p>
          <a:p>
            <a:r>
              <a:rPr lang="en-US" sz="2200" dirty="0"/>
              <a:t>Most existing models focus on historical CO₂ emissions and lack future emission</a:t>
            </a:r>
            <a:r>
              <a:rPr lang="en-US" sz="2200" b="1" dirty="0"/>
              <a:t> </a:t>
            </a:r>
            <a:r>
              <a:rPr lang="en-US" sz="2200" dirty="0"/>
              <a:t>prediction at the individual level.</a:t>
            </a:r>
          </a:p>
          <a:p>
            <a:r>
              <a:rPr lang="en-US" sz="2200" dirty="0"/>
              <a:t>Carbon footprint calculators provide generic estimates rather than personalized insights.</a:t>
            </a:r>
          </a:p>
          <a:p>
            <a:r>
              <a:rPr lang="en-US" sz="2200" dirty="0"/>
              <a:t>Deep learning models achieve high accuracy but operate as black-box systems.</a:t>
            </a:r>
          </a:p>
          <a:p>
            <a:r>
              <a:rPr lang="en-US" sz="2200" dirty="0"/>
              <a:t>Limited integration of Explainable AI (XAI) techniques for transparency.</a:t>
            </a:r>
          </a:p>
          <a:p>
            <a:r>
              <a:rPr lang="en-US" sz="2200" dirty="0"/>
              <a:t>Absence of sustainability optimization and actionable recommendations.</a:t>
            </a:r>
          </a:p>
          <a:p>
            <a:r>
              <a:rPr lang="en-US" sz="2200" dirty="0"/>
              <a:t>Forecasting models are rarely linked to behavioral change guidance.</a:t>
            </a:r>
          </a:p>
          <a:p>
            <a:pPr marL="0" indent="0">
              <a:buNone/>
            </a:pPr>
            <a:endParaRPr lang="en-US" b="1" dirty="0"/>
          </a:p>
        </p:txBody>
      </p:sp>
      <p:sp>
        <p:nvSpPr>
          <p:cNvPr id="7" name="Slide Number Placeholder 6">
            <a:extLst>
              <a:ext uri="{FF2B5EF4-FFF2-40B4-BE49-F238E27FC236}">
                <a16:creationId xmlns:a16="http://schemas.microsoft.com/office/drawing/2014/main" id="{726A5D66-AA6E-C120-89AB-5167D1D38CCB}"/>
              </a:ext>
            </a:extLst>
          </p:cNvPr>
          <p:cNvSpPr>
            <a:spLocks noGrp="1"/>
          </p:cNvSpPr>
          <p:nvPr>
            <p:ph type="sldNum" sz="quarter" idx="12"/>
          </p:nvPr>
        </p:nvSpPr>
        <p:spPr/>
        <p:txBody>
          <a:bodyPr/>
          <a:lstStyle/>
          <a:p>
            <a:fld id="{095B67F8-3864-425A-A4D9-E2BC08C4F04D}" type="slidenum">
              <a:rPr lang="en-IN" smtClean="0"/>
              <a:t>6</a:t>
            </a:fld>
            <a:endParaRPr lang="en-IN"/>
          </a:p>
        </p:txBody>
      </p:sp>
    </p:spTree>
    <p:extLst>
      <p:ext uri="{BB962C8B-B14F-4D97-AF65-F5344CB8AC3E}">
        <p14:creationId xmlns:p14="http://schemas.microsoft.com/office/powerpoint/2010/main" val="1347621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C4AD2-C005-B8ED-3923-E94FC1D3A4F2}"/>
              </a:ext>
            </a:extLst>
          </p:cNvPr>
          <p:cNvSpPr>
            <a:spLocks noGrp="1"/>
          </p:cNvSpPr>
          <p:nvPr>
            <p:ph type="title"/>
          </p:nvPr>
        </p:nvSpPr>
        <p:spPr/>
        <p:txBody>
          <a:bodyPr/>
          <a:lstStyle/>
          <a:p>
            <a:r>
              <a:rPr lang="en-IN" dirty="0"/>
              <a:t>REQUIREMENT ANALYSIS</a:t>
            </a:r>
            <a:endParaRPr lang="en-US" dirty="0"/>
          </a:p>
        </p:txBody>
      </p:sp>
      <p:sp>
        <p:nvSpPr>
          <p:cNvPr id="3" name="Content Placeholder 2">
            <a:extLst>
              <a:ext uri="{FF2B5EF4-FFF2-40B4-BE49-F238E27FC236}">
                <a16:creationId xmlns:a16="http://schemas.microsoft.com/office/drawing/2014/main" id="{7A47427E-8C7C-BB26-B75F-21B400622FB8}"/>
              </a:ext>
            </a:extLst>
          </p:cNvPr>
          <p:cNvSpPr>
            <a:spLocks noGrp="1"/>
          </p:cNvSpPr>
          <p:nvPr>
            <p:ph idx="1"/>
          </p:nvPr>
        </p:nvSpPr>
        <p:spPr/>
        <p:txBody>
          <a:bodyPr/>
          <a:lstStyle/>
          <a:p>
            <a:r>
              <a:rPr lang="en-US" sz="2200" b="1" dirty="0"/>
              <a:t>Functional Requirements</a:t>
            </a:r>
          </a:p>
          <a:p>
            <a:r>
              <a:rPr lang="en-US" sz="2200" dirty="0"/>
              <a:t>The system shall collect user-specific activity data (transport, energy, lifestyle).</a:t>
            </a:r>
          </a:p>
          <a:p>
            <a:r>
              <a:rPr lang="en-US" sz="2200" dirty="0"/>
              <a:t>The system shall predict current and future carbon footprint.</a:t>
            </a:r>
          </a:p>
          <a:p>
            <a:r>
              <a:rPr lang="en-US" sz="2200" dirty="0"/>
              <a:t>The system shall compare multiple AI models for CO₂ prediction.</a:t>
            </a:r>
          </a:p>
          <a:p>
            <a:r>
              <a:rPr lang="en-US" sz="2200" dirty="0"/>
              <a:t>The system shall provide explainable insights for predictions.</a:t>
            </a:r>
          </a:p>
          <a:p>
            <a:r>
              <a:rPr lang="en-US" sz="2200" dirty="0"/>
              <a:t>The system shall recommend sustainability optimization actions.</a:t>
            </a:r>
          </a:p>
          <a:p>
            <a:endParaRPr lang="en-US" dirty="0"/>
          </a:p>
        </p:txBody>
      </p:sp>
      <p:sp>
        <p:nvSpPr>
          <p:cNvPr id="7" name="Slide Number Placeholder 6">
            <a:extLst>
              <a:ext uri="{FF2B5EF4-FFF2-40B4-BE49-F238E27FC236}">
                <a16:creationId xmlns:a16="http://schemas.microsoft.com/office/drawing/2014/main" id="{D7255CE0-3CFA-5692-73FD-94E0361794C8}"/>
              </a:ext>
            </a:extLst>
          </p:cNvPr>
          <p:cNvSpPr>
            <a:spLocks noGrp="1"/>
          </p:cNvSpPr>
          <p:nvPr>
            <p:ph type="sldNum" sz="quarter" idx="12"/>
          </p:nvPr>
        </p:nvSpPr>
        <p:spPr/>
        <p:txBody>
          <a:bodyPr/>
          <a:lstStyle/>
          <a:p>
            <a:fld id="{095B67F8-3864-425A-A4D9-E2BC08C4F04D}" type="slidenum">
              <a:rPr lang="en-IN" smtClean="0"/>
              <a:t>7</a:t>
            </a:fld>
            <a:endParaRPr lang="en-IN"/>
          </a:p>
        </p:txBody>
      </p:sp>
    </p:spTree>
    <p:extLst>
      <p:ext uri="{BB962C8B-B14F-4D97-AF65-F5344CB8AC3E}">
        <p14:creationId xmlns:p14="http://schemas.microsoft.com/office/powerpoint/2010/main" val="3547588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A2B736-8730-BD1C-12C9-0E8250CEDFAA}"/>
              </a:ext>
            </a:extLst>
          </p:cNvPr>
          <p:cNvSpPr>
            <a:spLocks noGrp="1"/>
          </p:cNvSpPr>
          <p:nvPr>
            <p:ph idx="1"/>
          </p:nvPr>
        </p:nvSpPr>
        <p:spPr>
          <a:xfrm>
            <a:off x="783771" y="597159"/>
            <a:ext cx="10570029" cy="5579804"/>
          </a:xfrm>
        </p:spPr>
        <p:txBody>
          <a:bodyPr/>
          <a:lstStyle/>
          <a:p>
            <a:pPr marL="0" indent="0">
              <a:buNone/>
            </a:pPr>
            <a:endParaRPr lang="en-IN" sz="2200" b="1" dirty="0"/>
          </a:p>
          <a:p>
            <a:pPr marL="0" indent="0">
              <a:buNone/>
            </a:pPr>
            <a:r>
              <a:rPr lang="en-IN" sz="2200" b="1" dirty="0"/>
              <a:t>Software Requirements</a:t>
            </a:r>
          </a:p>
          <a:p>
            <a:r>
              <a:rPr lang="en-IN" sz="2200" b="1" dirty="0"/>
              <a:t>Operating System:</a:t>
            </a:r>
            <a:r>
              <a:rPr lang="en-IN" sz="2200" dirty="0"/>
              <a:t> Windows / Linux</a:t>
            </a:r>
          </a:p>
          <a:p>
            <a:r>
              <a:rPr lang="en-IN" sz="2200" b="1" dirty="0"/>
              <a:t>Programming Language:</a:t>
            </a:r>
            <a:r>
              <a:rPr lang="en-IN" sz="2200" dirty="0"/>
              <a:t> Python</a:t>
            </a:r>
          </a:p>
          <a:p>
            <a:r>
              <a:rPr lang="en-IN" sz="2200" b="1" dirty="0"/>
              <a:t>Libraries:</a:t>
            </a:r>
            <a:r>
              <a:rPr lang="en-IN" sz="2200" dirty="0"/>
              <a:t> Pandas, NumPy, Scikit-learn, TensorFlow </a:t>
            </a:r>
          </a:p>
          <a:p>
            <a:r>
              <a:rPr lang="en-IN" sz="2200" b="1" dirty="0"/>
              <a:t>Frontend:</a:t>
            </a:r>
            <a:r>
              <a:rPr lang="en-IN" sz="2200" dirty="0"/>
              <a:t> </a:t>
            </a:r>
            <a:r>
              <a:rPr lang="en-IN" sz="2200" dirty="0" err="1"/>
              <a:t>Streamlit</a:t>
            </a:r>
            <a:r>
              <a:rPr lang="en-IN" sz="2200" dirty="0"/>
              <a:t> </a:t>
            </a:r>
          </a:p>
          <a:p>
            <a:r>
              <a:rPr lang="en-IN" sz="2200" b="1" dirty="0"/>
              <a:t>Dataset: </a:t>
            </a:r>
            <a:r>
              <a:rPr lang="en-IN" sz="2200" dirty="0"/>
              <a:t>https://ourworldindata.org/co2-and-greenhouse-gas-emissions</a:t>
            </a:r>
          </a:p>
          <a:p>
            <a:endParaRPr lang="en-US" dirty="0"/>
          </a:p>
        </p:txBody>
      </p:sp>
      <p:sp>
        <p:nvSpPr>
          <p:cNvPr id="7" name="Slide Number Placeholder 6">
            <a:extLst>
              <a:ext uri="{FF2B5EF4-FFF2-40B4-BE49-F238E27FC236}">
                <a16:creationId xmlns:a16="http://schemas.microsoft.com/office/drawing/2014/main" id="{856EF88C-CB50-AD77-B5A4-A21386373BF1}"/>
              </a:ext>
            </a:extLst>
          </p:cNvPr>
          <p:cNvSpPr>
            <a:spLocks noGrp="1"/>
          </p:cNvSpPr>
          <p:nvPr>
            <p:ph type="sldNum" sz="quarter" idx="12"/>
          </p:nvPr>
        </p:nvSpPr>
        <p:spPr/>
        <p:txBody>
          <a:bodyPr/>
          <a:lstStyle/>
          <a:p>
            <a:fld id="{095B67F8-3864-425A-A4D9-E2BC08C4F04D}" type="slidenum">
              <a:rPr lang="en-IN" smtClean="0"/>
              <a:t>8</a:t>
            </a:fld>
            <a:endParaRPr lang="en-IN"/>
          </a:p>
        </p:txBody>
      </p:sp>
    </p:spTree>
    <p:extLst>
      <p:ext uri="{BB962C8B-B14F-4D97-AF65-F5344CB8AC3E}">
        <p14:creationId xmlns:p14="http://schemas.microsoft.com/office/powerpoint/2010/main" val="3062359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6BDE99-C613-5EFB-3EAA-2EB6455B3363}"/>
              </a:ext>
            </a:extLst>
          </p:cNvPr>
          <p:cNvSpPr>
            <a:spLocks noGrp="1"/>
          </p:cNvSpPr>
          <p:nvPr>
            <p:ph idx="1"/>
          </p:nvPr>
        </p:nvSpPr>
        <p:spPr>
          <a:xfrm>
            <a:off x="765110" y="606490"/>
            <a:ext cx="10588690" cy="5570473"/>
          </a:xfrm>
        </p:spPr>
        <p:txBody>
          <a:bodyPr/>
          <a:lstStyle/>
          <a:p>
            <a:pPr marL="0" indent="0">
              <a:buNone/>
            </a:pPr>
            <a:r>
              <a:rPr lang="en-IN" b="1" dirty="0"/>
              <a:t>WORKFLOW</a:t>
            </a:r>
          </a:p>
          <a:p>
            <a:r>
              <a:rPr lang="en-US" dirty="0"/>
              <a:t>CO₂ emission datasets are collected from publicly available on </a:t>
            </a:r>
            <a:r>
              <a:rPr lang="en-IN" dirty="0">
                <a:hlinkClick r:id="rId2"/>
              </a:rPr>
              <a:t>Our World</a:t>
            </a:r>
            <a:br>
              <a:rPr lang="en-IN" dirty="0">
                <a:hlinkClick r:id="rId2"/>
              </a:rPr>
            </a:br>
            <a:r>
              <a:rPr lang="en-IN" dirty="0">
                <a:hlinkClick r:id="rId2"/>
              </a:rPr>
              <a:t>in Data</a:t>
            </a:r>
            <a:r>
              <a:rPr lang="en-IN" dirty="0"/>
              <a:t> website.</a:t>
            </a:r>
            <a:endParaRPr lang="en-US" dirty="0"/>
          </a:p>
          <a:p>
            <a:r>
              <a:rPr lang="en-US" dirty="0"/>
              <a:t>Data preprocessing is performed to handle missing values, noise, and inconsistencies.</a:t>
            </a:r>
          </a:p>
          <a:p>
            <a:r>
              <a:rPr lang="en-US" dirty="0"/>
              <a:t>Feature selection and normalization are applied to improve model performance.</a:t>
            </a:r>
          </a:p>
          <a:p>
            <a:r>
              <a:rPr lang="en-US" dirty="0"/>
              <a:t>The dataset is divided into training and testing sets.</a:t>
            </a:r>
          </a:p>
          <a:p>
            <a:r>
              <a:rPr lang="en-US" b="1" dirty="0"/>
              <a:t>Statistical models</a:t>
            </a:r>
            <a:r>
              <a:rPr lang="en-US" dirty="0"/>
              <a:t> (e.g.,) are implemented as baseline forecasting approaches.</a:t>
            </a:r>
          </a:p>
          <a:p>
            <a:r>
              <a:rPr lang="en-US" b="1" dirty="0"/>
              <a:t>Machine Learning model – </a:t>
            </a:r>
            <a:r>
              <a:rPr lang="en-US" b="1" dirty="0" err="1"/>
              <a:t>XGBoost</a:t>
            </a:r>
            <a:r>
              <a:rPr lang="en-US" dirty="0"/>
              <a:t> is applied for nonlinear CO₂ emission prediction.</a:t>
            </a:r>
          </a:p>
          <a:p>
            <a:r>
              <a:rPr lang="en-US" b="1" dirty="0"/>
              <a:t>Deep Learning model – LSTM</a:t>
            </a:r>
            <a:r>
              <a:rPr lang="en-US" dirty="0"/>
              <a:t> is used to capture temporal dependencies in emission data.</a:t>
            </a:r>
          </a:p>
          <a:p>
            <a:r>
              <a:rPr lang="en-US" dirty="0"/>
              <a:t>A </a:t>
            </a:r>
            <a:r>
              <a:rPr lang="en-US" b="1" dirty="0"/>
              <a:t>Hybrid model (</a:t>
            </a:r>
            <a:r>
              <a:rPr lang="en-US" b="1" dirty="0" err="1"/>
              <a:t>XGBoost</a:t>
            </a:r>
            <a:r>
              <a:rPr lang="en-US" b="1" dirty="0"/>
              <a:t> + LSTM)</a:t>
            </a:r>
            <a:r>
              <a:rPr lang="en-US" dirty="0"/>
              <a:t> is developed to combine the strengths of ML and DL approaches.</a:t>
            </a:r>
          </a:p>
          <a:p>
            <a:r>
              <a:rPr lang="en-US" dirty="0"/>
              <a:t>All models are evaluated and compared using metrics such as RMSE and MAE.</a:t>
            </a:r>
            <a:endParaRPr lang="en-IN" dirty="0"/>
          </a:p>
          <a:p>
            <a:r>
              <a:rPr lang="en-US" b="1" dirty="0"/>
              <a:t>Explainable AI techniques (SHAP)</a:t>
            </a:r>
            <a:r>
              <a:rPr lang="en-US" dirty="0"/>
              <a:t> are applied to analyze feature importance and model behavior.</a:t>
            </a:r>
          </a:p>
          <a:p>
            <a:r>
              <a:rPr lang="en-US" dirty="0"/>
              <a:t>Sustainability optimization insights are generated based on explainable prediction results.</a:t>
            </a:r>
          </a:p>
          <a:p>
            <a:endParaRPr lang="en-US" dirty="0"/>
          </a:p>
          <a:p>
            <a:endParaRPr lang="en-US" dirty="0"/>
          </a:p>
          <a:p>
            <a:endParaRPr lang="en-US" dirty="0"/>
          </a:p>
          <a:p>
            <a:pPr marL="0" indent="0">
              <a:buNone/>
            </a:pPr>
            <a:endParaRPr lang="en-IN" dirty="0"/>
          </a:p>
          <a:p>
            <a:pPr marL="0" indent="0">
              <a:buNone/>
            </a:pPr>
            <a:endParaRPr lang="en-US" dirty="0"/>
          </a:p>
        </p:txBody>
      </p:sp>
      <p:sp>
        <p:nvSpPr>
          <p:cNvPr id="7" name="Slide Number Placeholder 6">
            <a:extLst>
              <a:ext uri="{FF2B5EF4-FFF2-40B4-BE49-F238E27FC236}">
                <a16:creationId xmlns:a16="http://schemas.microsoft.com/office/drawing/2014/main" id="{C9EAC3BD-165F-35B8-3A43-F19B1580E1A7}"/>
              </a:ext>
            </a:extLst>
          </p:cNvPr>
          <p:cNvSpPr>
            <a:spLocks noGrp="1"/>
          </p:cNvSpPr>
          <p:nvPr>
            <p:ph type="sldNum" sz="quarter" idx="12"/>
          </p:nvPr>
        </p:nvSpPr>
        <p:spPr/>
        <p:txBody>
          <a:bodyPr/>
          <a:lstStyle/>
          <a:p>
            <a:fld id="{095B67F8-3864-425A-A4D9-E2BC08C4F04D}" type="slidenum">
              <a:rPr lang="en-IN" smtClean="0"/>
              <a:t>9</a:t>
            </a:fld>
            <a:endParaRPr lang="en-IN"/>
          </a:p>
        </p:txBody>
      </p:sp>
    </p:spTree>
    <p:extLst>
      <p:ext uri="{BB962C8B-B14F-4D97-AF65-F5344CB8AC3E}">
        <p14:creationId xmlns:p14="http://schemas.microsoft.com/office/powerpoint/2010/main" val="221403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4357-A7FE-5AC1-070F-69293BE175C6}"/>
              </a:ext>
            </a:extLst>
          </p:cNvPr>
          <p:cNvSpPr>
            <a:spLocks noGrp="1"/>
          </p:cNvSpPr>
          <p:nvPr>
            <p:ph type="title"/>
          </p:nvPr>
        </p:nvSpPr>
        <p:spPr>
          <a:xfrm>
            <a:off x="550506" y="699796"/>
            <a:ext cx="10803294" cy="503853"/>
          </a:xfrm>
        </p:spPr>
        <p:txBody>
          <a:bodyPr/>
          <a:lstStyle/>
          <a:p>
            <a:r>
              <a:rPr lang="en-US" sz="2200" b="1" dirty="0"/>
              <a:t>Data Flow Diagram</a:t>
            </a:r>
            <a:endParaRPr lang="en-IN" sz="2200" dirty="0"/>
          </a:p>
        </p:txBody>
      </p:sp>
      <p:sp>
        <p:nvSpPr>
          <p:cNvPr id="4" name="Slide Number Placeholder 3">
            <a:extLst>
              <a:ext uri="{FF2B5EF4-FFF2-40B4-BE49-F238E27FC236}">
                <a16:creationId xmlns:a16="http://schemas.microsoft.com/office/drawing/2014/main" id="{5CDE4EE8-D35F-E92C-F499-90534BB2B7CA}"/>
              </a:ext>
            </a:extLst>
          </p:cNvPr>
          <p:cNvSpPr>
            <a:spLocks noGrp="1"/>
          </p:cNvSpPr>
          <p:nvPr>
            <p:ph type="sldNum" sz="quarter" idx="12"/>
          </p:nvPr>
        </p:nvSpPr>
        <p:spPr/>
        <p:txBody>
          <a:bodyPr/>
          <a:lstStyle/>
          <a:p>
            <a:fld id="{095B67F8-3864-425A-A4D9-E2BC08C4F04D}" type="slidenum">
              <a:rPr lang="en-IN" smtClean="0"/>
              <a:t>10</a:t>
            </a:fld>
            <a:endParaRPr lang="en-IN"/>
          </a:p>
        </p:txBody>
      </p:sp>
      <p:pic>
        <p:nvPicPr>
          <p:cNvPr id="7170" name="Picture 2">
            <a:extLst>
              <a:ext uri="{FF2B5EF4-FFF2-40B4-BE49-F238E27FC236}">
                <a16:creationId xmlns:a16="http://schemas.microsoft.com/office/drawing/2014/main" id="{7631C6CD-D901-D499-86D2-B5DF0C3B211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77547" y="886409"/>
            <a:ext cx="6904653" cy="5652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635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76BDA-A602-2446-67D1-02FC67BDC1D3}"/>
              </a:ext>
            </a:extLst>
          </p:cNvPr>
          <p:cNvSpPr>
            <a:spLocks noGrp="1"/>
          </p:cNvSpPr>
          <p:nvPr>
            <p:ph type="title"/>
          </p:nvPr>
        </p:nvSpPr>
        <p:spPr>
          <a:xfrm>
            <a:off x="783771" y="531846"/>
            <a:ext cx="10570029" cy="643812"/>
          </a:xfrm>
        </p:spPr>
        <p:txBody>
          <a:bodyPr/>
          <a:lstStyle/>
          <a:p>
            <a:r>
              <a:rPr lang="en-IN" dirty="0"/>
              <a:t>PROJECT PLAN &amp; FEASIBILITY STUDY</a:t>
            </a:r>
            <a:endParaRPr lang="en-US" dirty="0"/>
          </a:p>
        </p:txBody>
      </p:sp>
      <p:sp>
        <p:nvSpPr>
          <p:cNvPr id="3" name="Content Placeholder 2">
            <a:extLst>
              <a:ext uri="{FF2B5EF4-FFF2-40B4-BE49-F238E27FC236}">
                <a16:creationId xmlns:a16="http://schemas.microsoft.com/office/drawing/2014/main" id="{C07504CB-D274-1B23-D41E-2FE77063C6C6}"/>
              </a:ext>
            </a:extLst>
          </p:cNvPr>
          <p:cNvSpPr>
            <a:spLocks noGrp="1"/>
          </p:cNvSpPr>
          <p:nvPr>
            <p:ph idx="1"/>
          </p:nvPr>
        </p:nvSpPr>
        <p:spPr>
          <a:xfrm>
            <a:off x="709127" y="1063690"/>
            <a:ext cx="10644674" cy="5113273"/>
          </a:xfrm>
        </p:spPr>
        <p:txBody>
          <a:bodyPr/>
          <a:lstStyle/>
          <a:p>
            <a:pPr marL="0" indent="0">
              <a:buNone/>
            </a:pPr>
            <a:r>
              <a:rPr lang="en-US" sz="2200" b="1" dirty="0"/>
              <a:t>Feasibility Study</a:t>
            </a:r>
          </a:p>
          <a:p>
            <a:pPr marL="0" indent="0">
              <a:buNone/>
            </a:pPr>
            <a:r>
              <a:rPr lang="en-US" sz="2200" b="1" dirty="0"/>
              <a:t>1. Technical Feasibility</a:t>
            </a:r>
            <a:endParaRPr lang="en-US" sz="2200" dirty="0"/>
          </a:p>
          <a:p>
            <a:r>
              <a:rPr lang="en-US" sz="2200" dirty="0"/>
              <a:t>Availability of reliable CO₂ emission datasets from public repositories.</a:t>
            </a:r>
          </a:p>
          <a:p>
            <a:r>
              <a:rPr lang="en-US" sz="2200" dirty="0"/>
              <a:t>Use of proven algorithms such as</a:t>
            </a:r>
            <a:r>
              <a:rPr lang="en-US" sz="2200" b="1" dirty="0"/>
              <a:t> </a:t>
            </a:r>
            <a:r>
              <a:rPr lang="en-US" sz="2200" b="1" dirty="0" err="1"/>
              <a:t>XGBoost</a:t>
            </a:r>
            <a:r>
              <a:rPr lang="en-US" sz="2200" b="1" dirty="0"/>
              <a:t>, and LSTM</a:t>
            </a:r>
            <a:r>
              <a:rPr lang="en-US" sz="2200" dirty="0"/>
              <a:t>.</a:t>
            </a:r>
          </a:p>
          <a:p>
            <a:r>
              <a:rPr lang="en-US" sz="2200" dirty="0"/>
              <a:t>Availability of Explainable AI tools like </a:t>
            </a:r>
            <a:r>
              <a:rPr lang="en-US" sz="2200" b="1" dirty="0"/>
              <a:t>SHAP</a:t>
            </a:r>
            <a:r>
              <a:rPr lang="en-US" sz="2200" dirty="0"/>
              <a:t>.</a:t>
            </a:r>
          </a:p>
          <a:p>
            <a:r>
              <a:rPr lang="en-US" sz="2200" dirty="0"/>
              <a:t>Implementation using open-source libraries in Python.</a:t>
            </a:r>
          </a:p>
          <a:p>
            <a:pPr marL="0" indent="0">
              <a:buNone/>
            </a:pPr>
            <a:r>
              <a:rPr lang="en-US" sz="2200" b="1" dirty="0"/>
              <a:t>2. Economic Feasibility</a:t>
            </a:r>
            <a:endParaRPr lang="en-US" sz="2200" dirty="0"/>
          </a:p>
          <a:p>
            <a:r>
              <a:rPr lang="en-US" sz="2200" dirty="0"/>
              <a:t>No cost involved in data acquisition (public datasets).</a:t>
            </a:r>
          </a:p>
          <a:p>
            <a:r>
              <a:rPr lang="en-US" sz="2200" dirty="0"/>
              <a:t>Open-source frameworks reduce development cost.</a:t>
            </a:r>
          </a:p>
          <a:p>
            <a:r>
              <a:rPr lang="en-US" sz="2200" dirty="0"/>
              <a:t>Minimal hardware requirements (optional GPU for training).</a:t>
            </a:r>
          </a:p>
          <a:p>
            <a:pPr marL="0" indent="0">
              <a:buNone/>
            </a:pPr>
            <a:r>
              <a:rPr lang="en-US" sz="2200" b="1" dirty="0"/>
              <a:t>3. Operational Feasibility</a:t>
            </a:r>
            <a:endParaRPr lang="en-US" sz="2200" dirty="0"/>
          </a:p>
          <a:p>
            <a:r>
              <a:rPr lang="en-US" sz="2200" dirty="0"/>
              <a:t>Simple data-driven workflow without user dependency.</a:t>
            </a:r>
          </a:p>
          <a:p>
            <a:r>
              <a:rPr lang="en-US" sz="2200" dirty="0"/>
              <a:t>Easy to interpret results using Explainable AI.</a:t>
            </a:r>
          </a:p>
          <a:p>
            <a:r>
              <a:rPr lang="en-US" sz="2200" dirty="0"/>
              <a:t>Suitable for researchers, policymakers, and sustainability analysts.</a:t>
            </a:r>
          </a:p>
          <a:p>
            <a:pPr marL="0" indent="0">
              <a:buNone/>
            </a:pPr>
            <a:endParaRPr lang="en-US" b="1" dirty="0"/>
          </a:p>
        </p:txBody>
      </p:sp>
      <p:sp>
        <p:nvSpPr>
          <p:cNvPr id="7" name="Slide Number Placeholder 6">
            <a:extLst>
              <a:ext uri="{FF2B5EF4-FFF2-40B4-BE49-F238E27FC236}">
                <a16:creationId xmlns:a16="http://schemas.microsoft.com/office/drawing/2014/main" id="{CD6674A0-9EC7-6828-2FD7-CDEAB22250CE}"/>
              </a:ext>
            </a:extLst>
          </p:cNvPr>
          <p:cNvSpPr>
            <a:spLocks noGrp="1"/>
          </p:cNvSpPr>
          <p:nvPr>
            <p:ph type="sldNum" sz="quarter" idx="12"/>
          </p:nvPr>
        </p:nvSpPr>
        <p:spPr/>
        <p:txBody>
          <a:bodyPr/>
          <a:lstStyle/>
          <a:p>
            <a:fld id="{095B67F8-3864-425A-A4D9-E2BC08C4F04D}" type="slidenum">
              <a:rPr lang="en-IN" smtClean="0"/>
              <a:t>11</a:t>
            </a:fld>
            <a:endParaRPr lang="en-IN"/>
          </a:p>
        </p:txBody>
      </p:sp>
    </p:spTree>
    <p:extLst>
      <p:ext uri="{BB962C8B-B14F-4D97-AF65-F5344CB8AC3E}">
        <p14:creationId xmlns:p14="http://schemas.microsoft.com/office/powerpoint/2010/main" val="4142894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311D-7CF5-1674-9D88-35D8E422D41F}"/>
              </a:ext>
            </a:extLst>
          </p:cNvPr>
          <p:cNvSpPr>
            <a:spLocks noGrp="1"/>
          </p:cNvSpPr>
          <p:nvPr>
            <p:ph type="title"/>
          </p:nvPr>
        </p:nvSpPr>
        <p:spPr/>
        <p:txBody>
          <a:bodyPr/>
          <a:lstStyle/>
          <a:p>
            <a:r>
              <a:rPr lang="en-IN" sz="2200" dirty="0"/>
              <a:t>GANTT CHART</a:t>
            </a:r>
          </a:p>
        </p:txBody>
      </p:sp>
      <p:graphicFrame>
        <p:nvGraphicFramePr>
          <p:cNvPr id="7" name="Content Placeholder 6">
            <a:extLst>
              <a:ext uri="{FF2B5EF4-FFF2-40B4-BE49-F238E27FC236}">
                <a16:creationId xmlns:a16="http://schemas.microsoft.com/office/drawing/2014/main" id="{CE443614-9E7A-AA18-8DB1-624DCE6E8646}"/>
              </a:ext>
            </a:extLst>
          </p:cNvPr>
          <p:cNvGraphicFramePr>
            <a:graphicFrameLocks noGrp="1"/>
          </p:cNvGraphicFramePr>
          <p:nvPr>
            <p:ph idx="1"/>
            <p:extLst>
              <p:ext uri="{D42A27DB-BD31-4B8C-83A1-F6EECF244321}">
                <p14:modId xmlns:p14="http://schemas.microsoft.com/office/powerpoint/2010/main" val="4221041441"/>
              </p:ext>
            </p:extLst>
          </p:nvPr>
        </p:nvGraphicFramePr>
        <p:xfrm>
          <a:off x="838200" y="1825625"/>
          <a:ext cx="10515603" cy="4739640"/>
        </p:xfrm>
        <a:graphic>
          <a:graphicData uri="http://schemas.openxmlformats.org/drawingml/2006/table">
            <a:tbl>
              <a:tblPr firstRow="1" bandRow="1">
                <a:tableStyleId>{5C22544A-7EE6-4342-B048-85BDC9FD1C3A}</a:tableStyleId>
              </a:tblPr>
              <a:tblGrid>
                <a:gridCol w="1502229">
                  <a:extLst>
                    <a:ext uri="{9D8B030D-6E8A-4147-A177-3AD203B41FA5}">
                      <a16:colId xmlns:a16="http://schemas.microsoft.com/office/drawing/2014/main" val="3019128676"/>
                    </a:ext>
                  </a:extLst>
                </a:gridCol>
                <a:gridCol w="1502229">
                  <a:extLst>
                    <a:ext uri="{9D8B030D-6E8A-4147-A177-3AD203B41FA5}">
                      <a16:colId xmlns:a16="http://schemas.microsoft.com/office/drawing/2014/main" val="396134131"/>
                    </a:ext>
                  </a:extLst>
                </a:gridCol>
                <a:gridCol w="1502229">
                  <a:extLst>
                    <a:ext uri="{9D8B030D-6E8A-4147-A177-3AD203B41FA5}">
                      <a16:colId xmlns:a16="http://schemas.microsoft.com/office/drawing/2014/main" val="616087011"/>
                    </a:ext>
                  </a:extLst>
                </a:gridCol>
                <a:gridCol w="1502229">
                  <a:extLst>
                    <a:ext uri="{9D8B030D-6E8A-4147-A177-3AD203B41FA5}">
                      <a16:colId xmlns:a16="http://schemas.microsoft.com/office/drawing/2014/main" val="3869830614"/>
                    </a:ext>
                  </a:extLst>
                </a:gridCol>
                <a:gridCol w="1502229">
                  <a:extLst>
                    <a:ext uri="{9D8B030D-6E8A-4147-A177-3AD203B41FA5}">
                      <a16:colId xmlns:a16="http://schemas.microsoft.com/office/drawing/2014/main" val="2942566507"/>
                    </a:ext>
                  </a:extLst>
                </a:gridCol>
                <a:gridCol w="1502229">
                  <a:extLst>
                    <a:ext uri="{9D8B030D-6E8A-4147-A177-3AD203B41FA5}">
                      <a16:colId xmlns:a16="http://schemas.microsoft.com/office/drawing/2014/main" val="3492901163"/>
                    </a:ext>
                  </a:extLst>
                </a:gridCol>
                <a:gridCol w="1502229">
                  <a:extLst>
                    <a:ext uri="{9D8B030D-6E8A-4147-A177-3AD203B41FA5}">
                      <a16:colId xmlns:a16="http://schemas.microsoft.com/office/drawing/2014/main" val="1740455436"/>
                    </a:ext>
                  </a:extLst>
                </a:gridCol>
              </a:tblGrid>
              <a:tr h="370840">
                <a:tc>
                  <a:txBody>
                    <a:bodyPr/>
                    <a:lstStyle/>
                    <a:p>
                      <a:pPr>
                        <a:buNone/>
                      </a:pPr>
                      <a:r>
                        <a:rPr lang="en-IN" b="1" dirty="0"/>
                        <a:t>Task / Phase</a:t>
                      </a:r>
                      <a:endParaRPr lang="en-IN" dirty="0"/>
                    </a:p>
                  </a:txBody>
                  <a:tcPr anchor="ctr"/>
                </a:tc>
                <a:tc>
                  <a:txBody>
                    <a:bodyPr/>
                    <a:lstStyle/>
                    <a:p>
                      <a:pPr>
                        <a:buNone/>
                      </a:pPr>
                      <a:r>
                        <a:rPr lang="en-IN" b="1"/>
                        <a:t>Week 1–2</a:t>
                      </a:r>
                      <a:endParaRPr lang="en-IN"/>
                    </a:p>
                  </a:txBody>
                  <a:tcPr anchor="ctr"/>
                </a:tc>
                <a:tc>
                  <a:txBody>
                    <a:bodyPr/>
                    <a:lstStyle/>
                    <a:p>
                      <a:pPr>
                        <a:buNone/>
                      </a:pPr>
                      <a:r>
                        <a:rPr lang="en-IN" b="1"/>
                        <a:t>Week 3–4</a:t>
                      </a:r>
                      <a:endParaRPr lang="en-IN"/>
                    </a:p>
                  </a:txBody>
                  <a:tcPr anchor="ctr"/>
                </a:tc>
                <a:tc>
                  <a:txBody>
                    <a:bodyPr/>
                    <a:lstStyle/>
                    <a:p>
                      <a:pPr>
                        <a:buNone/>
                      </a:pPr>
                      <a:r>
                        <a:rPr lang="en-IN" b="1"/>
                        <a:t>Week 5–6</a:t>
                      </a:r>
                      <a:endParaRPr lang="en-IN"/>
                    </a:p>
                  </a:txBody>
                  <a:tcPr anchor="ctr"/>
                </a:tc>
                <a:tc>
                  <a:txBody>
                    <a:bodyPr/>
                    <a:lstStyle/>
                    <a:p>
                      <a:pPr>
                        <a:buNone/>
                      </a:pPr>
                      <a:r>
                        <a:rPr lang="en-IN" b="1"/>
                        <a:t>Week 7–8</a:t>
                      </a:r>
                      <a:endParaRPr lang="en-IN"/>
                    </a:p>
                  </a:txBody>
                  <a:tcPr anchor="ctr"/>
                </a:tc>
                <a:tc>
                  <a:txBody>
                    <a:bodyPr/>
                    <a:lstStyle/>
                    <a:p>
                      <a:pPr>
                        <a:buNone/>
                      </a:pPr>
                      <a:r>
                        <a:rPr lang="en-IN" b="1"/>
                        <a:t>Week 9–10</a:t>
                      </a:r>
                      <a:endParaRPr lang="en-IN"/>
                    </a:p>
                  </a:txBody>
                  <a:tcPr anchor="ctr"/>
                </a:tc>
                <a:tc>
                  <a:txBody>
                    <a:bodyPr/>
                    <a:lstStyle/>
                    <a:p>
                      <a:pPr>
                        <a:buNone/>
                      </a:pPr>
                      <a:r>
                        <a:rPr lang="en-IN" b="1"/>
                        <a:t>Week 11–12</a:t>
                      </a:r>
                      <a:endParaRPr lang="en-IN"/>
                    </a:p>
                  </a:txBody>
                  <a:tcPr anchor="ctr"/>
                </a:tc>
                <a:extLst>
                  <a:ext uri="{0D108BD9-81ED-4DB2-BD59-A6C34878D82A}">
                    <a16:rowId xmlns:a16="http://schemas.microsoft.com/office/drawing/2014/main" val="2806866280"/>
                  </a:ext>
                </a:extLst>
              </a:tr>
              <a:tr h="370840">
                <a:tc>
                  <a:txBody>
                    <a:bodyPr/>
                    <a:lstStyle/>
                    <a:p>
                      <a:pPr>
                        <a:buNone/>
                      </a:pPr>
                      <a:r>
                        <a:rPr lang="en-IN"/>
                        <a:t>Literature Review</a:t>
                      </a:r>
                    </a:p>
                  </a:txBody>
                  <a:tcPr anchor="ctr"/>
                </a:tc>
                <a:tc>
                  <a:txBody>
                    <a:bodyPr/>
                    <a:lstStyle/>
                    <a:p>
                      <a:pPr>
                        <a:buNone/>
                      </a:pPr>
                      <a:r>
                        <a:rPr lang="en-IN"/>
                        <a:t>✔️</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extLst>
                  <a:ext uri="{0D108BD9-81ED-4DB2-BD59-A6C34878D82A}">
                    <a16:rowId xmlns:a16="http://schemas.microsoft.com/office/drawing/2014/main" val="3722983895"/>
                  </a:ext>
                </a:extLst>
              </a:tr>
              <a:tr h="370840">
                <a:tc>
                  <a:txBody>
                    <a:bodyPr/>
                    <a:lstStyle/>
                    <a:p>
                      <a:pPr>
                        <a:buNone/>
                      </a:pPr>
                      <a:r>
                        <a:rPr lang="en-IN"/>
                        <a:t>Dataset Collection</a:t>
                      </a:r>
                    </a:p>
                  </a:txBody>
                  <a:tcPr anchor="ctr"/>
                </a:tc>
                <a:tc>
                  <a:txBody>
                    <a:bodyPr/>
                    <a:lstStyle/>
                    <a:p>
                      <a:pPr>
                        <a:buNone/>
                      </a:pPr>
                      <a:endParaRPr lang="en-IN"/>
                    </a:p>
                  </a:txBody>
                  <a:tcPr anchor="ctr"/>
                </a:tc>
                <a:tc>
                  <a:txBody>
                    <a:bodyPr/>
                    <a:lstStyle/>
                    <a:p>
                      <a:pPr>
                        <a:buNone/>
                      </a:pPr>
                      <a:r>
                        <a:rPr lang="en-IN"/>
                        <a:t>✔️</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extLst>
                  <a:ext uri="{0D108BD9-81ED-4DB2-BD59-A6C34878D82A}">
                    <a16:rowId xmlns:a16="http://schemas.microsoft.com/office/drawing/2014/main" val="3713089768"/>
                  </a:ext>
                </a:extLst>
              </a:tr>
              <a:tr h="370840">
                <a:tc>
                  <a:txBody>
                    <a:bodyPr/>
                    <a:lstStyle/>
                    <a:p>
                      <a:pPr>
                        <a:buNone/>
                      </a:pPr>
                      <a:r>
                        <a:rPr lang="en-IN"/>
                        <a:t>Data Preprocessing</a:t>
                      </a:r>
                    </a:p>
                  </a:txBody>
                  <a:tcPr anchor="ctr"/>
                </a:tc>
                <a:tc>
                  <a:txBody>
                    <a:bodyPr/>
                    <a:lstStyle/>
                    <a:p>
                      <a:pPr>
                        <a:buNone/>
                      </a:pPr>
                      <a:endParaRPr lang="en-IN"/>
                    </a:p>
                  </a:txBody>
                  <a:tcPr anchor="ctr"/>
                </a:tc>
                <a:tc>
                  <a:txBody>
                    <a:bodyPr/>
                    <a:lstStyle/>
                    <a:p>
                      <a:pPr>
                        <a:buNone/>
                      </a:pPr>
                      <a:r>
                        <a:rPr lang="en-IN"/>
                        <a:t>✔️</a:t>
                      </a:r>
                    </a:p>
                  </a:txBody>
                  <a:tcPr anchor="ctr"/>
                </a:tc>
                <a:tc>
                  <a:txBody>
                    <a:bodyPr/>
                    <a:lstStyle/>
                    <a:p>
                      <a:pPr>
                        <a:buNone/>
                      </a:pPr>
                      <a:r>
                        <a:rPr lang="en-IN"/>
                        <a:t>✔️</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extLst>
                  <a:ext uri="{0D108BD9-81ED-4DB2-BD59-A6C34878D82A}">
                    <a16:rowId xmlns:a16="http://schemas.microsoft.com/office/drawing/2014/main" val="2093434846"/>
                  </a:ext>
                </a:extLst>
              </a:tr>
              <a:tr h="370840">
                <a:tc>
                  <a:txBody>
                    <a:bodyPr/>
                    <a:lstStyle/>
                    <a:p>
                      <a:pPr>
                        <a:buNone/>
                      </a:pPr>
                      <a:r>
                        <a:rPr lang="en-IN"/>
                        <a:t>Statistical Models</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a:t>✔️</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extLst>
                  <a:ext uri="{0D108BD9-81ED-4DB2-BD59-A6C34878D82A}">
                    <a16:rowId xmlns:a16="http://schemas.microsoft.com/office/drawing/2014/main" val="3722219729"/>
                  </a:ext>
                </a:extLst>
              </a:tr>
              <a:tr h="370840">
                <a:tc>
                  <a:txBody>
                    <a:bodyPr/>
                    <a:lstStyle/>
                    <a:p>
                      <a:pPr>
                        <a:buNone/>
                      </a:pPr>
                      <a:r>
                        <a:rPr lang="en-IN"/>
                        <a:t>ML Model (XGBoost)</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a:t>✔️</a:t>
                      </a:r>
                    </a:p>
                  </a:txBody>
                  <a:tcPr anchor="ctr"/>
                </a:tc>
                <a:tc>
                  <a:txBody>
                    <a:bodyPr/>
                    <a:lstStyle/>
                    <a:p>
                      <a:pPr>
                        <a:buNone/>
                      </a:pPr>
                      <a:r>
                        <a:rPr lang="en-IN"/>
                        <a:t>✔️</a:t>
                      </a:r>
                    </a:p>
                  </a:txBody>
                  <a:tcPr anchor="ctr"/>
                </a:tc>
                <a:tc>
                  <a:txBody>
                    <a:bodyPr/>
                    <a:lstStyle/>
                    <a:p>
                      <a:pPr>
                        <a:buNone/>
                      </a:pPr>
                      <a:endParaRPr lang="en-IN"/>
                    </a:p>
                  </a:txBody>
                  <a:tcPr anchor="ctr"/>
                </a:tc>
                <a:tc>
                  <a:txBody>
                    <a:bodyPr/>
                    <a:lstStyle/>
                    <a:p>
                      <a:pPr>
                        <a:buNone/>
                      </a:pPr>
                      <a:endParaRPr lang="en-IN"/>
                    </a:p>
                  </a:txBody>
                  <a:tcPr anchor="ctr"/>
                </a:tc>
                <a:extLst>
                  <a:ext uri="{0D108BD9-81ED-4DB2-BD59-A6C34878D82A}">
                    <a16:rowId xmlns:a16="http://schemas.microsoft.com/office/drawing/2014/main" val="509710973"/>
                  </a:ext>
                </a:extLst>
              </a:tr>
              <a:tr h="370840">
                <a:tc>
                  <a:txBody>
                    <a:bodyPr/>
                    <a:lstStyle/>
                    <a:p>
                      <a:pPr>
                        <a:buNone/>
                      </a:pPr>
                      <a:r>
                        <a:rPr lang="en-IN"/>
                        <a:t>DL Model (LSTM)</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dirty="0">
                          <a:highlight>
                            <a:srgbClr val="FFFF00"/>
                          </a:highlight>
                        </a:rPr>
                        <a:t>✔️</a:t>
                      </a:r>
                    </a:p>
                  </a:txBody>
                  <a:tcPr anchor="ctr"/>
                </a:tc>
                <a:tc>
                  <a:txBody>
                    <a:bodyPr/>
                    <a:lstStyle/>
                    <a:p>
                      <a:pPr>
                        <a:buNone/>
                      </a:pPr>
                      <a:r>
                        <a:rPr lang="en-IN"/>
                        <a:t>✔️</a:t>
                      </a:r>
                    </a:p>
                  </a:txBody>
                  <a:tcPr anchor="ctr"/>
                </a:tc>
                <a:tc>
                  <a:txBody>
                    <a:bodyPr/>
                    <a:lstStyle/>
                    <a:p>
                      <a:pPr>
                        <a:buNone/>
                      </a:pPr>
                      <a:endParaRPr lang="en-IN"/>
                    </a:p>
                  </a:txBody>
                  <a:tcPr anchor="ctr"/>
                </a:tc>
                <a:extLst>
                  <a:ext uri="{0D108BD9-81ED-4DB2-BD59-A6C34878D82A}">
                    <a16:rowId xmlns:a16="http://schemas.microsoft.com/office/drawing/2014/main" val="490714454"/>
                  </a:ext>
                </a:extLst>
              </a:tr>
              <a:tr h="370840">
                <a:tc>
                  <a:txBody>
                    <a:bodyPr/>
                    <a:lstStyle/>
                    <a:p>
                      <a:pPr>
                        <a:buNone/>
                      </a:pPr>
                      <a:r>
                        <a:rPr lang="en-IN"/>
                        <a:t>Hybrid Model</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a:t>✔️</a:t>
                      </a:r>
                    </a:p>
                  </a:txBody>
                  <a:tcPr anchor="ctr"/>
                </a:tc>
                <a:tc>
                  <a:txBody>
                    <a:bodyPr/>
                    <a:lstStyle/>
                    <a:p>
                      <a:pPr>
                        <a:buNone/>
                      </a:pPr>
                      <a:r>
                        <a:rPr lang="en-IN"/>
                        <a:t>✔️</a:t>
                      </a:r>
                    </a:p>
                  </a:txBody>
                  <a:tcPr anchor="ctr"/>
                </a:tc>
                <a:tc>
                  <a:txBody>
                    <a:bodyPr/>
                    <a:lstStyle/>
                    <a:p>
                      <a:pPr>
                        <a:buNone/>
                      </a:pPr>
                      <a:endParaRPr lang="en-IN"/>
                    </a:p>
                  </a:txBody>
                  <a:tcPr anchor="ctr"/>
                </a:tc>
                <a:extLst>
                  <a:ext uri="{0D108BD9-81ED-4DB2-BD59-A6C34878D82A}">
                    <a16:rowId xmlns:a16="http://schemas.microsoft.com/office/drawing/2014/main" val="1198960522"/>
                  </a:ext>
                </a:extLst>
              </a:tr>
              <a:tr h="370840">
                <a:tc>
                  <a:txBody>
                    <a:bodyPr/>
                    <a:lstStyle/>
                    <a:p>
                      <a:pPr>
                        <a:buNone/>
                      </a:pPr>
                      <a:r>
                        <a:rPr lang="en-IN"/>
                        <a:t>Explainable AI (SHAP)</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a:t>✔️</a:t>
                      </a:r>
                    </a:p>
                  </a:txBody>
                  <a:tcPr anchor="ctr"/>
                </a:tc>
                <a:tc>
                  <a:txBody>
                    <a:bodyPr/>
                    <a:lstStyle/>
                    <a:p>
                      <a:pPr>
                        <a:buNone/>
                      </a:pPr>
                      <a:endParaRPr lang="en-IN"/>
                    </a:p>
                  </a:txBody>
                  <a:tcPr anchor="ctr"/>
                </a:tc>
                <a:extLst>
                  <a:ext uri="{0D108BD9-81ED-4DB2-BD59-A6C34878D82A}">
                    <a16:rowId xmlns:a16="http://schemas.microsoft.com/office/drawing/2014/main" val="4121992099"/>
                  </a:ext>
                </a:extLst>
              </a:tr>
              <a:tr h="370840">
                <a:tc>
                  <a:txBody>
                    <a:bodyPr/>
                    <a:lstStyle/>
                    <a:p>
                      <a:pPr>
                        <a:buNone/>
                      </a:pPr>
                      <a:r>
                        <a:rPr lang="en-IN"/>
                        <a:t>Evaluation &amp; Analysis</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a:t>✔️</a:t>
                      </a:r>
                    </a:p>
                  </a:txBody>
                  <a:tcPr anchor="ctr"/>
                </a:tc>
                <a:tc>
                  <a:txBody>
                    <a:bodyPr/>
                    <a:lstStyle/>
                    <a:p>
                      <a:pPr>
                        <a:buNone/>
                      </a:pPr>
                      <a:r>
                        <a:rPr lang="en-IN"/>
                        <a:t>✔️</a:t>
                      </a:r>
                    </a:p>
                  </a:txBody>
                  <a:tcPr anchor="ctr"/>
                </a:tc>
                <a:extLst>
                  <a:ext uri="{0D108BD9-81ED-4DB2-BD59-A6C34878D82A}">
                    <a16:rowId xmlns:a16="http://schemas.microsoft.com/office/drawing/2014/main" val="1459053117"/>
                  </a:ext>
                </a:extLst>
              </a:tr>
              <a:tr h="370840">
                <a:tc>
                  <a:txBody>
                    <a:bodyPr/>
                    <a:lstStyle/>
                    <a:p>
                      <a:pPr>
                        <a:buNone/>
                      </a:pPr>
                      <a:r>
                        <a:rPr lang="en-IN"/>
                        <a:t>Report &amp; PPT</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r>
                        <a:rPr lang="en-IN" dirty="0"/>
                        <a:t>✔️</a:t>
                      </a:r>
                    </a:p>
                  </a:txBody>
                  <a:tcPr anchor="ctr"/>
                </a:tc>
                <a:extLst>
                  <a:ext uri="{0D108BD9-81ED-4DB2-BD59-A6C34878D82A}">
                    <a16:rowId xmlns:a16="http://schemas.microsoft.com/office/drawing/2014/main" val="3782520260"/>
                  </a:ext>
                </a:extLst>
              </a:tr>
            </a:tbl>
          </a:graphicData>
        </a:graphic>
      </p:graphicFrame>
      <p:sp>
        <p:nvSpPr>
          <p:cNvPr id="4" name="Slide Number Placeholder 3">
            <a:extLst>
              <a:ext uri="{FF2B5EF4-FFF2-40B4-BE49-F238E27FC236}">
                <a16:creationId xmlns:a16="http://schemas.microsoft.com/office/drawing/2014/main" id="{4C3ACDAA-0856-7920-E9CC-1802044C0992}"/>
              </a:ext>
            </a:extLst>
          </p:cNvPr>
          <p:cNvSpPr>
            <a:spLocks noGrp="1"/>
          </p:cNvSpPr>
          <p:nvPr>
            <p:ph type="sldNum" sz="quarter" idx="12"/>
          </p:nvPr>
        </p:nvSpPr>
        <p:spPr/>
        <p:txBody>
          <a:bodyPr/>
          <a:lstStyle/>
          <a:p>
            <a:fld id="{095B67F8-3864-425A-A4D9-E2BC08C4F04D}" type="slidenum">
              <a:rPr lang="en-IN" smtClean="0"/>
              <a:t>12</a:t>
            </a:fld>
            <a:endParaRPr lang="en-IN"/>
          </a:p>
        </p:txBody>
      </p:sp>
    </p:spTree>
    <p:extLst>
      <p:ext uri="{BB962C8B-B14F-4D97-AF65-F5344CB8AC3E}">
        <p14:creationId xmlns:p14="http://schemas.microsoft.com/office/powerpoint/2010/main" val="3220408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6C228-B66C-3CC4-6E73-E632662DCD8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9DB6642A-7587-74D8-A47F-BC7F1EED54F3}"/>
              </a:ext>
            </a:extLst>
          </p:cNvPr>
          <p:cNvSpPr>
            <a:spLocks noGrp="1"/>
          </p:cNvSpPr>
          <p:nvPr>
            <p:ph idx="1"/>
          </p:nvPr>
        </p:nvSpPr>
        <p:spPr>
          <a:xfrm>
            <a:off x="838200" y="1604865"/>
            <a:ext cx="10515600" cy="4572098"/>
          </a:xfrm>
        </p:spPr>
        <p:txBody>
          <a:bodyPr/>
          <a:lstStyle/>
          <a:p>
            <a:pPr marL="0" indent="0" algn="just">
              <a:buNone/>
            </a:pPr>
            <a:r>
              <a:rPr lang="en-US" sz="2200" dirty="0"/>
              <a:t>This project presents an </a:t>
            </a:r>
            <a:r>
              <a:rPr lang="en-US" sz="2200" b="1" dirty="0"/>
              <a:t>Explainable AI-based framework</a:t>
            </a:r>
            <a:r>
              <a:rPr lang="en-US" sz="2200" dirty="0"/>
              <a:t> for </a:t>
            </a:r>
            <a:r>
              <a:rPr lang="en-US" sz="2200" b="1" dirty="0"/>
              <a:t>CO₂ emissions forecasting and sustainability optimization</a:t>
            </a:r>
            <a:r>
              <a:rPr lang="en-US" sz="2200" dirty="0"/>
              <a:t>. By comparing statistical, machine learning, deep learning, and hybrid models, the framework identifies the most accurate and reliable approach for future emission prediction .The integration of Explainable AI (SHAP) improves transparency and trust, enabling better understanding of model behavior. The proposed system supports data-driven sustainability planning and can assist policymakers, researchers, and environmental analysts in reducing carbon emissions.</a:t>
            </a:r>
          </a:p>
          <a:p>
            <a:pPr marL="0" indent="0">
              <a:buNone/>
            </a:pPr>
            <a:r>
              <a:rPr lang="en-US" sz="2200" b="1" dirty="0"/>
              <a:t>Expected Outcomes</a:t>
            </a:r>
          </a:p>
          <a:p>
            <a:r>
              <a:rPr lang="en-US" sz="2200" dirty="0"/>
              <a:t>Accurate future CO₂ emission forecasts</a:t>
            </a:r>
          </a:p>
          <a:p>
            <a:r>
              <a:rPr lang="en-US" sz="2200" dirty="0"/>
              <a:t>Performance comparison of statistical, ML, DL, and hybrid models</a:t>
            </a:r>
          </a:p>
          <a:p>
            <a:r>
              <a:rPr lang="en-US" sz="2200" dirty="0"/>
              <a:t>Explainable insights using XAI techniques</a:t>
            </a:r>
          </a:p>
          <a:p>
            <a:r>
              <a:rPr lang="en-US" sz="2200" dirty="0"/>
              <a:t>Identification of key emission-driving factors</a:t>
            </a:r>
          </a:p>
          <a:p>
            <a:r>
              <a:rPr lang="en-US" sz="2200" dirty="0"/>
              <a:t>Support for sustainability optimization strategies</a:t>
            </a:r>
          </a:p>
          <a:p>
            <a:pPr marL="0" indent="0" algn="just">
              <a:buNone/>
            </a:pPr>
            <a:endParaRPr lang="en-IN" dirty="0"/>
          </a:p>
        </p:txBody>
      </p:sp>
      <p:sp>
        <p:nvSpPr>
          <p:cNvPr id="4" name="Slide Number Placeholder 3">
            <a:extLst>
              <a:ext uri="{FF2B5EF4-FFF2-40B4-BE49-F238E27FC236}">
                <a16:creationId xmlns:a16="http://schemas.microsoft.com/office/drawing/2014/main" id="{B00583B1-4261-5B61-898B-4C925FADBFA7}"/>
              </a:ext>
            </a:extLst>
          </p:cNvPr>
          <p:cNvSpPr>
            <a:spLocks noGrp="1"/>
          </p:cNvSpPr>
          <p:nvPr>
            <p:ph type="sldNum" sz="quarter" idx="12"/>
          </p:nvPr>
        </p:nvSpPr>
        <p:spPr/>
        <p:txBody>
          <a:bodyPr/>
          <a:lstStyle/>
          <a:p>
            <a:fld id="{095B67F8-3864-425A-A4D9-E2BC08C4F04D}" type="slidenum">
              <a:rPr lang="en-IN" smtClean="0"/>
              <a:t>13</a:t>
            </a:fld>
            <a:endParaRPr lang="en-IN"/>
          </a:p>
        </p:txBody>
      </p:sp>
    </p:spTree>
    <p:extLst>
      <p:ext uri="{BB962C8B-B14F-4D97-AF65-F5344CB8AC3E}">
        <p14:creationId xmlns:p14="http://schemas.microsoft.com/office/powerpoint/2010/main" val="3843822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FAFA7-4CE8-57AB-ED2D-351FB3898517}"/>
              </a:ext>
            </a:extLst>
          </p:cNvPr>
          <p:cNvSpPr>
            <a:spLocks noGrp="1"/>
          </p:cNvSpPr>
          <p:nvPr>
            <p:ph type="title"/>
          </p:nvPr>
        </p:nvSpPr>
        <p:spPr/>
        <p:txBody>
          <a:bodyPr/>
          <a:lstStyle/>
          <a:p>
            <a:r>
              <a:rPr lang="en-IN" dirty="0"/>
              <a:t>REFERENCES</a:t>
            </a:r>
          </a:p>
        </p:txBody>
      </p:sp>
      <p:sp>
        <p:nvSpPr>
          <p:cNvPr id="4" name="Slide Number Placeholder 3">
            <a:extLst>
              <a:ext uri="{FF2B5EF4-FFF2-40B4-BE49-F238E27FC236}">
                <a16:creationId xmlns:a16="http://schemas.microsoft.com/office/drawing/2014/main" id="{5BC605A0-8C45-E543-E1C3-4CD9F2C9B283}"/>
              </a:ext>
            </a:extLst>
          </p:cNvPr>
          <p:cNvSpPr>
            <a:spLocks noGrp="1"/>
          </p:cNvSpPr>
          <p:nvPr>
            <p:ph type="sldNum" sz="quarter" idx="12"/>
          </p:nvPr>
        </p:nvSpPr>
        <p:spPr/>
        <p:txBody>
          <a:bodyPr/>
          <a:lstStyle/>
          <a:p>
            <a:fld id="{095B67F8-3864-425A-A4D9-E2BC08C4F04D}" type="slidenum">
              <a:rPr lang="en-IN" smtClean="0"/>
              <a:t>14</a:t>
            </a:fld>
            <a:endParaRPr lang="en-IN"/>
          </a:p>
        </p:txBody>
      </p:sp>
      <p:sp>
        <p:nvSpPr>
          <p:cNvPr id="5" name="Rectangle 1">
            <a:extLst>
              <a:ext uri="{FF2B5EF4-FFF2-40B4-BE49-F238E27FC236}">
                <a16:creationId xmlns:a16="http://schemas.microsoft.com/office/drawing/2014/main" id="{5BB79783-41B4-71D1-A130-1DA6981F57E9}"/>
              </a:ext>
            </a:extLst>
          </p:cNvPr>
          <p:cNvSpPr>
            <a:spLocks noGrp="1" noChangeArrowheads="1"/>
          </p:cNvSpPr>
          <p:nvPr>
            <p:ph idx="1"/>
          </p:nvPr>
        </p:nvSpPr>
        <p:spPr bwMode="auto">
          <a:xfrm>
            <a:off x="662474" y="1908413"/>
            <a:ext cx="11280710"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Ghannam, S., </a:t>
            </a:r>
            <a:r>
              <a:rPr kumimoji="0" lang="en-US" altLang="en-US" sz="1800" i="1" u="none" strike="noStrike" cap="none" normalizeH="0" baseline="0" dirty="0">
                <a:ln>
                  <a:noFill/>
                </a:ln>
                <a:solidFill>
                  <a:schemeClr val="tx1"/>
                </a:solidFill>
                <a:effectLst/>
                <a:latin typeface="Arial" panose="020B0604020202020204" pitchFamily="34" charset="0"/>
              </a:rPr>
              <a:t>An explainable comparative study of statistical, machine learning, deep learning, </a:t>
            </a:r>
            <a:endParaRPr lang="en-US" altLang="en-US" sz="1800" i="1" dirty="0">
              <a:latin typeface="Arial" panose="020B0604020202020204" pitchFamily="34" charset="0"/>
            </a:endParaRPr>
          </a:p>
          <a:p>
            <a:pPr marL="0" indent="0" defTabSz="914400" eaLnBrk="0" hangingPunct="0">
              <a:lnSpc>
                <a:spcPct val="100000"/>
              </a:lnSpc>
              <a:spcBef>
                <a:spcPct val="0"/>
              </a:spcBef>
              <a:buNone/>
            </a:pPr>
            <a:r>
              <a:rPr kumimoji="0" lang="en-US" altLang="en-US" sz="1800" i="1" u="none" strike="noStrike" cap="none" normalizeH="0" baseline="0" dirty="0">
                <a:ln>
                  <a:noFill/>
                </a:ln>
                <a:solidFill>
                  <a:schemeClr val="tx1"/>
                </a:solidFill>
                <a:effectLst/>
                <a:latin typeface="Arial" panose="020B0604020202020204" pitchFamily="34" charset="0"/>
              </a:rPr>
              <a:t> and hybrid models for CO₂ emissions forecasting in Australia</a:t>
            </a:r>
            <a:r>
              <a:rPr kumimoji="0" lang="en-US" altLang="en-US" sz="1800" i="0" u="none" strike="noStrike" cap="none" normalizeH="0" baseline="0" dirty="0">
                <a:ln>
                  <a:noFill/>
                </a:ln>
                <a:solidFill>
                  <a:schemeClr val="tx1"/>
                </a:solidFill>
                <a:effectLst/>
                <a:latin typeface="Arial" panose="020B0604020202020204" pitchFamily="34" charset="0"/>
              </a:rPr>
              <a:t>.</a:t>
            </a:r>
          </a:p>
          <a:p>
            <a:pPr marL="0" indent="0" defTabSz="914400" eaLnBrk="0" hangingPunct="0">
              <a:lnSpc>
                <a:spcPct val="100000"/>
              </a:lnSpc>
              <a:spcBef>
                <a:spcPct val="0"/>
              </a:spcBef>
              <a:buNone/>
            </a:pPr>
            <a:r>
              <a:rPr kumimoji="0" lang="en-US" altLang="en-US" sz="1800" i="0" u="none" strike="noStrike" cap="none" normalizeH="0" baseline="0" dirty="0">
                <a:ln>
                  <a:noFill/>
                </a:ln>
                <a:solidFill>
                  <a:schemeClr val="tx1"/>
                </a:solidFill>
                <a:effectLst/>
                <a:latin typeface="Arial" panose="020B0604020202020204" pitchFamily="34" charset="0"/>
              </a:rPr>
              <a:t> Available at: </a:t>
            </a:r>
            <a:r>
              <a:rPr kumimoji="0" lang="en-US" altLang="en-US" sz="1800" i="0" u="none" strike="noStrike" cap="none" normalizeH="0" baseline="0" dirty="0">
                <a:ln>
                  <a:noFill/>
                </a:ln>
                <a:solidFill>
                  <a:schemeClr val="tx1"/>
                </a:solidFill>
                <a:effectLst/>
                <a:latin typeface="Arial" panose="020B0604020202020204" pitchFamily="34" charset="0"/>
                <a:hlinkClick r:id="rId2"/>
              </a:rPr>
              <a:t>https://www.sciencedirect.com/science/article/pii/S2590005625002668</a:t>
            </a:r>
            <a:r>
              <a:rPr kumimoji="0" lang="en-US" altLang="en-US" sz="180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Şahin, V., </a:t>
            </a:r>
            <a:r>
              <a:rPr kumimoji="0" lang="en-US" altLang="en-US" sz="1800" i="1" u="none" strike="noStrike" cap="none" normalizeH="0" baseline="0" dirty="0">
                <a:ln>
                  <a:noFill/>
                </a:ln>
                <a:solidFill>
                  <a:schemeClr val="tx1"/>
                </a:solidFill>
                <a:effectLst/>
                <a:latin typeface="Arial" panose="020B0604020202020204" pitchFamily="34" charset="0"/>
              </a:rPr>
              <a:t>Explainable machine learning-based prediction of CO₂ emissions using Extreme Gradient       Boosting (</a:t>
            </a:r>
            <a:r>
              <a:rPr kumimoji="0" lang="en-US" altLang="en-US" sz="1800" i="1" u="none" strike="noStrike" cap="none" normalizeH="0" baseline="0" dirty="0" err="1">
                <a:ln>
                  <a:noFill/>
                </a:ln>
                <a:solidFill>
                  <a:schemeClr val="tx1"/>
                </a:solidFill>
                <a:effectLst/>
                <a:latin typeface="Arial" panose="020B0604020202020204" pitchFamily="34" charset="0"/>
              </a:rPr>
              <a:t>XGBoost</a:t>
            </a:r>
            <a:r>
              <a:rPr kumimoji="0" lang="en-US" altLang="en-US" sz="1800" i="1" u="none" strike="noStrike" cap="none" normalizeH="0" baseline="0" dirty="0">
                <a:ln>
                  <a:noFill/>
                </a:ln>
                <a:solidFill>
                  <a:schemeClr val="tx1"/>
                </a:solidFill>
                <a:effectLst/>
                <a:latin typeface="Arial" panose="020B0604020202020204" pitchFamily="34" charset="0"/>
              </a:rPr>
              <a:t>)</a:t>
            </a:r>
            <a:r>
              <a:rPr kumimoji="0" lang="en-US" altLang="en-US" sz="1800" i="0" u="none" strike="noStrike" cap="none" normalizeH="0" baseline="0" dirty="0">
                <a:ln>
                  <a:noFill/>
                </a:ln>
                <a:solidFill>
                  <a:schemeClr val="tx1"/>
                </a:solidFill>
                <a:effectLst/>
                <a:latin typeface="Arial" panose="020B0604020202020204" pitchFamily="34" charset="0"/>
              </a:rPr>
              <a:t> (2025).</a:t>
            </a:r>
          </a:p>
          <a:p>
            <a:pPr marL="0" indent="0" defTabSz="914400" eaLnBrk="0" hangingPunct="0">
              <a:lnSpc>
                <a:spcPct val="100000"/>
              </a:lnSpc>
              <a:spcBef>
                <a:spcPct val="0"/>
              </a:spcBef>
              <a:buNone/>
            </a:pPr>
            <a:r>
              <a:rPr kumimoji="0" lang="en-US" altLang="en-US" sz="1800" i="0" u="none" strike="noStrike" cap="none" normalizeH="0" baseline="0" dirty="0">
                <a:ln>
                  <a:noFill/>
                </a:ln>
                <a:solidFill>
                  <a:schemeClr val="tx1"/>
                </a:solidFill>
                <a:effectLst/>
                <a:latin typeface="Arial" panose="020B0604020202020204" pitchFamily="34" charset="0"/>
              </a:rPr>
              <a:t>Available at: </a:t>
            </a:r>
            <a:r>
              <a:rPr kumimoji="0" lang="en-US" altLang="en-US" sz="1800" i="0" u="none" strike="noStrike" cap="none" normalizeH="0" baseline="0" dirty="0">
                <a:ln>
                  <a:noFill/>
                </a:ln>
                <a:solidFill>
                  <a:schemeClr val="tx1"/>
                </a:solidFill>
                <a:effectLst/>
                <a:latin typeface="Arial" panose="020B0604020202020204" pitchFamily="34" charset="0"/>
                <a:hlinkClick r:id="rId3"/>
              </a:rPr>
              <a:t>https://www.sciencedirect.com/science/article/abs/pii/S0029801825024357</a:t>
            </a:r>
            <a:r>
              <a:rPr kumimoji="0" lang="en-US" altLang="en-US" sz="180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err="1">
                <a:ln>
                  <a:noFill/>
                </a:ln>
                <a:solidFill>
                  <a:schemeClr val="tx1"/>
                </a:solidFill>
                <a:effectLst/>
                <a:latin typeface="Arial" panose="020B0604020202020204" pitchFamily="34" charset="0"/>
              </a:rPr>
              <a:t>Keykele</a:t>
            </a:r>
            <a:r>
              <a:rPr kumimoji="0" lang="en-US" altLang="en-US" sz="1800" i="0" u="none" strike="noStrike" cap="none" normalizeH="0" baseline="0" dirty="0">
                <a:ln>
                  <a:noFill/>
                </a:ln>
                <a:solidFill>
                  <a:schemeClr val="tx1"/>
                </a:solidFill>
                <a:effectLst/>
                <a:latin typeface="Arial" panose="020B0604020202020204" pitchFamily="34" charset="0"/>
              </a:rPr>
              <a:t>, M. P., </a:t>
            </a:r>
            <a:r>
              <a:rPr kumimoji="0" lang="en-US" altLang="en-US" sz="1800" i="1" u="none" strike="noStrike" cap="none" normalizeH="0" baseline="0" dirty="0">
                <a:ln>
                  <a:noFill/>
                </a:ln>
                <a:solidFill>
                  <a:schemeClr val="tx1"/>
                </a:solidFill>
                <a:effectLst/>
                <a:latin typeface="Arial" panose="020B0604020202020204" pitchFamily="34" charset="0"/>
              </a:rPr>
              <a:t>Predicting residential CO₂ emissions: Machine learning and LSTM comparison</a:t>
            </a:r>
            <a:r>
              <a:rPr kumimoji="0" lang="en-US" altLang="en-US" sz="1800" i="0" u="none" strike="noStrike" cap="none" normalizeH="0" baseline="0" dirty="0">
                <a:ln>
                  <a:noFill/>
                </a:ln>
                <a:solidFill>
                  <a:schemeClr val="tx1"/>
                </a:solidFill>
                <a:effectLst/>
                <a:latin typeface="Arial" panose="020B0604020202020204" pitchFamily="34" charset="0"/>
              </a:rPr>
              <a:t> (2025).</a:t>
            </a:r>
          </a:p>
          <a:p>
            <a:pPr marL="0" indent="0" defTabSz="914400" eaLnBrk="0" hangingPunct="0">
              <a:lnSpc>
                <a:spcPct val="100000"/>
              </a:lnSpc>
              <a:spcBef>
                <a:spcPct val="0"/>
              </a:spcBef>
              <a:buNone/>
            </a:pPr>
            <a:r>
              <a:rPr kumimoji="0" lang="en-US" altLang="en-US" sz="1800" i="0" u="none" strike="noStrike" cap="none" normalizeH="0" baseline="0" dirty="0">
                <a:ln>
                  <a:noFill/>
                </a:ln>
                <a:solidFill>
                  <a:schemeClr val="tx1"/>
                </a:solidFill>
                <a:effectLst/>
                <a:latin typeface="Arial" panose="020B0604020202020204" pitchFamily="34" charset="0"/>
              </a:rPr>
              <a:t> Available at: </a:t>
            </a:r>
            <a:r>
              <a:rPr kumimoji="0" lang="en-US" altLang="en-US" sz="1800" i="0" u="none" strike="noStrike" cap="none" normalizeH="0" baseline="0" dirty="0">
                <a:ln>
                  <a:noFill/>
                </a:ln>
                <a:solidFill>
                  <a:schemeClr val="tx1"/>
                </a:solidFill>
                <a:effectLst/>
                <a:latin typeface="Arial" panose="020B0604020202020204" pitchFamily="34" charset="0"/>
                <a:hlinkClick r:id="rId4"/>
              </a:rPr>
              <a:t>https://www.sbt-durabi.org/articles/xml/bYw7/</a:t>
            </a:r>
            <a:r>
              <a:rPr kumimoji="0" lang="en-US" altLang="en-US" sz="180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Adam, A. M., </a:t>
            </a:r>
            <a:r>
              <a:rPr kumimoji="0" lang="en-US" altLang="en-US" sz="1800" i="1" u="none" strike="noStrike" cap="none" normalizeH="0" baseline="0" dirty="0">
                <a:ln>
                  <a:noFill/>
                </a:ln>
                <a:solidFill>
                  <a:schemeClr val="tx1"/>
                </a:solidFill>
                <a:effectLst/>
                <a:latin typeface="Arial" panose="020B0604020202020204" pitchFamily="34" charset="0"/>
              </a:rPr>
              <a:t>Exploring machine learning models for predicting greenhouse gas emissions in buildings</a:t>
            </a:r>
            <a:r>
              <a:rPr kumimoji="0" lang="en-US" altLang="en-US" sz="1800" i="0" u="none" strike="noStrike" cap="none" normalizeH="0" baseline="0" dirty="0">
                <a:ln>
                  <a:noFill/>
                </a:ln>
                <a:solidFill>
                  <a:schemeClr val="tx1"/>
                </a:solidFill>
                <a:effectLst/>
                <a:latin typeface="Arial" panose="020B0604020202020204" pitchFamily="34" charset="0"/>
              </a:rPr>
              <a:t> (2025).</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Arial" panose="020B0604020202020204" pitchFamily="34" charset="0"/>
              </a:rPr>
              <a:t> Available at: </a:t>
            </a:r>
            <a:r>
              <a:rPr kumimoji="0" lang="en-US" altLang="en-US" sz="1800" i="0" u="none" strike="noStrike" cap="none" normalizeH="0" baseline="0" dirty="0">
                <a:ln>
                  <a:noFill/>
                </a:ln>
                <a:solidFill>
                  <a:schemeClr val="tx1"/>
                </a:solidFill>
                <a:effectLst/>
                <a:latin typeface="Arial" panose="020B0604020202020204" pitchFamily="34" charset="0"/>
                <a:hlinkClick r:id="rId5"/>
              </a:rPr>
              <a:t>https://link.springer.com/article/10.1186/s40068-025-00407-5</a:t>
            </a:r>
            <a:r>
              <a:rPr kumimoji="0" lang="en-US" altLang="en-US" sz="180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Li, X., </a:t>
            </a:r>
            <a:r>
              <a:rPr kumimoji="0" lang="en-US" altLang="en-US" sz="1800" i="1" u="none" strike="noStrike" cap="none" normalizeH="0" baseline="0" dirty="0">
                <a:ln>
                  <a:noFill/>
                </a:ln>
                <a:solidFill>
                  <a:schemeClr val="tx1"/>
                </a:solidFill>
                <a:effectLst/>
                <a:latin typeface="Arial" panose="020B0604020202020204" pitchFamily="34" charset="0"/>
              </a:rPr>
              <a:t>A comparative study of statistical and machine learning models on near-real-time daily emissions prediction</a:t>
            </a:r>
            <a:r>
              <a:rPr kumimoji="0" lang="en-US" altLang="en-US" sz="1800" i="0" u="none" strike="noStrike" cap="none" normalizeH="0" baseline="0" dirty="0">
                <a:ln>
                  <a:noFill/>
                </a:ln>
                <a:solidFill>
                  <a:schemeClr val="tx1"/>
                </a:solidFill>
                <a:effectLst/>
                <a:latin typeface="Arial" panose="020B0604020202020204" pitchFamily="34" charset="0"/>
              </a:rPr>
              <a:t> (2023).</a:t>
            </a:r>
          </a:p>
          <a:p>
            <a:pPr marL="0" indent="0" defTabSz="914400" eaLnBrk="0" hangingPunct="0">
              <a:lnSpc>
                <a:spcPct val="100000"/>
              </a:lnSpc>
              <a:spcBef>
                <a:spcPct val="0"/>
              </a:spcBef>
              <a:buNone/>
            </a:pPr>
            <a:r>
              <a:rPr lang="en-US" altLang="en-US" sz="1800" dirty="0">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Preprint: </a:t>
            </a:r>
            <a:r>
              <a:rPr kumimoji="0" lang="en-US" altLang="en-US" sz="1800" i="0" u="none" strike="noStrike" cap="none" normalizeH="0" baseline="0" dirty="0">
                <a:ln>
                  <a:noFill/>
                </a:ln>
                <a:solidFill>
                  <a:schemeClr val="tx1"/>
                </a:solidFill>
                <a:effectLst/>
                <a:latin typeface="Arial" panose="020B0604020202020204" pitchFamily="34" charset="0"/>
                <a:hlinkClick r:id="rId6"/>
              </a:rPr>
              <a:t>https://arxiv.org/abs/2302.01152</a:t>
            </a:r>
            <a:r>
              <a:rPr kumimoji="0" lang="en-US" altLang="en-US" sz="180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85106224"/>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404_LEC0  -  Compatibility Mode" id="{3BDF6A17-ACBD-4545-BE13-AE1053292383}" vid="{F9445E81-6C4F-4E11-A32D-3F55FC671F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INT404_LEC0 TEMPLATE</Template>
  <TotalTime>5127</TotalTime>
  <Words>1678</Words>
  <Application>Microsoft Office PowerPoint</Application>
  <PresentationFormat>Widescreen</PresentationFormat>
  <Paragraphs>192</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Apple Braille</vt:lpstr>
      <vt:lpstr>Arial</vt:lpstr>
      <vt:lpstr>Calibri</vt:lpstr>
      <vt:lpstr>Calibri Light</vt:lpstr>
      <vt:lpstr>Times New Roman</vt:lpstr>
      <vt:lpstr>Theme1</vt:lpstr>
      <vt:lpstr>PowerPoint Presentation</vt:lpstr>
      <vt:lpstr>Content of Presentation</vt:lpstr>
      <vt:lpstr>PowerPoint Presentation</vt:lpstr>
      <vt:lpstr> Introduction  (An Explainable AI Framework for Personalized Carbon Footprint  Prediction and Sustainability Optimization) </vt:lpstr>
      <vt:lpstr>Literature review</vt:lpstr>
      <vt:lpstr>GAP ANALYSIS</vt:lpstr>
      <vt:lpstr>REQUIREMENT ANALYSIS</vt:lpstr>
      <vt:lpstr>PowerPoint Presentation</vt:lpstr>
      <vt:lpstr>PowerPoint Presentation</vt:lpstr>
      <vt:lpstr>Data Flow Diagram</vt:lpstr>
      <vt:lpstr>PROJECT PLAN &amp; FEASIBILITY STUDY</vt:lpstr>
      <vt:lpstr>GANTT CHART</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 Revolution: Be the Change</dc:title>
  <dc:creator>Aashish</dc:creator>
  <cp:lastModifiedBy>Nithin Aparadapu</cp:lastModifiedBy>
  <cp:revision>100</cp:revision>
  <dcterms:created xsi:type="dcterms:W3CDTF">2025-01-04T06:25:56Z</dcterms:created>
  <dcterms:modified xsi:type="dcterms:W3CDTF">2026-03-13T07:59:09Z</dcterms:modified>
</cp:coreProperties>
</file>